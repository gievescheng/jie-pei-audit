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8" r:id="rId4"/>
    <p:sldId id="278" r:id="rId5"/>
    <p:sldId id="280" r:id="rId6"/>
    <p:sldId id="270" r:id="rId7"/>
    <p:sldId id="267" r:id="rId8"/>
    <p:sldId id="281" r:id="rId9"/>
    <p:sldId id="285" r:id="rId10"/>
    <p:sldId id="286" r:id="rId11"/>
    <p:sldId id="269" r:id="rId12"/>
    <p:sldId id="28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佑翰 林" initials="佑林" lastIdx="2" clrIdx="0">
    <p:extLst>
      <p:ext uri="{19B8F6BF-5375-455C-9EA6-DF929625EA0E}">
        <p15:presenceInfo xmlns:p15="http://schemas.microsoft.com/office/powerpoint/2012/main" userId="9b1289051fa12d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96"/>
  </p:normalViewPr>
  <p:slideViewPr>
    <p:cSldViewPr snapToGrid="0">
      <p:cViewPr varScale="1">
        <p:scale>
          <a:sx n="102" d="100"/>
          <a:sy n="102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89FB4-BB76-7D45-B078-BBF50EF7FF13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60551-944A-1640-B179-2275B07C30C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417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462D-B74C-EE22-A065-CBB1CAE6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5C3BFF-C092-9E06-B1F3-46C36320B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49F3908-5770-C1E1-7E7E-D19F4E836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0C3C2-18E4-566F-4735-D1E84342C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885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9AEF-4803-D3B6-5BFD-FDB224D9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BC3D94-5D6A-DEF3-E521-3B5BE54A4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7EFF91-1E1F-2FF4-B7BC-42C08A9A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A0EE40-9BFC-4F49-43DE-2F786834A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015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8921-E50A-19DF-7B1D-5D336A51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A31B99-105E-36AF-7197-C17D8264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2C70C2-4347-BE48-D03A-D32B0C310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04EE32-47B2-B97C-81FD-7C7EF5314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944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9AEF-4803-D3B6-5BFD-FDB224D9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BC3D94-5D6A-DEF3-E521-3B5BE54A4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7EFF91-1E1F-2FF4-B7BC-42C08A9A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A0EE40-9BFC-4F49-43DE-2F786834A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015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CE70-A7DA-0167-36B4-8C10B327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7103F1-0210-93FE-F129-6F9335AEA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F75C68-66BE-8C5E-D4DA-54E33985E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BB45F-6ED5-C4A3-693F-72B4B4F69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1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956A-C187-56E1-4F56-CAB338FB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C548D7-7366-99E7-BE91-11991A271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257EFF6-DD71-6F75-9B59-1A7CA4A2B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8D9630-6D0F-8D13-FB02-C5C7EB305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81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1A8D2-CBF3-0BCB-7078-CD72937D5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8F063B-9B07-43B4-B12E-1EBEFDBC2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626B49-3127-7FA7-829D-B0ECE6BF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0B9CC1-B07E-FA84-4EC1-EFFC767E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3C79E1-695E-7388-9721-90AE910D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3879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52EA8-B527-D3E5-DE09-D49A0BBC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0585BE-BD61-7DCF-CD04-ACA55C080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0E0475-FBE7-BF2A-4E19-7EB44512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32F74-10E6-3EFB-FE49-CDC47FAD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E6073B-9F08-669A-42B6-8A80EAC8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248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37A21-98EE-D877-E746-FEC218C8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A80F58-201C-2442-F649-520EE00D0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727679-8B2B-E64D-C7BC-E1DBEBB9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0577E0-8690-97D6-57ED-4CD1E8E3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6F18B7-2B1B-4E08-55BC-DF90974A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78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95A02-6175-707A-A20A-2B514E06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6F0FB-68E9-7D6A-0D5C-F84405152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A964E9-FCD7-5A7B-B038-35E550EA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CD8D48-CF3C-60D3-3FB9-8FBE9322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26AC79-C85F-BC75-7044-BED026C6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C22C03-E3C4-AC1F-B231-CFD3F8F3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76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6535D-6585-2079-993D-A0D9CB6F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AF1ACD-43E4-0AEF-C08A-2369E3726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870D43-8008-9FA7-DB25-C40576C12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168888-CF4E-4C3C-CE75-7F6272C17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55FFF1-2797-C546-5FAB-63F567A8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76D5C41-5287-47F6-438D-0CA48CB2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0867E5C-CA7E-39F7-73C2-D4F8BDC0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11465C-08D4-8AB2-994C-D7824903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054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2D93E-5520-616C-F80B-DCDC4685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5CB266-5404-EE81-8647-B1E2CD55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24470F3-BD4E-75F4-5F8C-EFBBC80B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501D81-A852-2CC1-87F5-94F7D4C5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432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7325E2-FFF5-21EE-BC2C-CD260192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FB2D82C-2B43-6E00-E797-6FDE74C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8C6D2C-1075-785D-378F-90E82DBC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903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C2A93-A539-03E2-1082-9D1A3AAB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6AF3E-8B4F-AF59-A76E-5A4882BE6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85EA86-712F-ED2A-A627-BA15699A5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2C3E46-1C6F-E463-878E-D02F3BA2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3F9170-C268-0B6C-1D11-8B45176F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C8E4D-4EA4-1CCE-7C33-67487729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0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6384E-0476-39D0-3760-6D249913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AA1758-953B-A6E4-B1D7-54E69059E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0BF4DB-2C3B-A6BE-58CD-87BE22083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233E34-4EE1-3AE6-CBC6-26B341CD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F2BF95-0450-DD7A-8B3A-F5E7DC5C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7F981F-99A0-0B8D-C9F3-8008107E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319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9CAE3-A1CB-50A9-AA5B-502FAE65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6BBFF0-AFFF-47D9-4942-4C02F7A6B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1444F0-6BAD-71ED-31F8-D63E590D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5732BF-2412-22D1-FA6B-71216E12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C9B1E3-1487-13D0-DAE5-B76E14B7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406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A3D1494-7DC2-25DC-A32A-EB5FF68C3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2BF4B5-EE5B-A0DF-EB19-2E7BB9115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E7FD10-D4BA-1C5C-21F9-FBA6F368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0F1EA7-AC6B-C1D4-32F4-D1211A1C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ACA35-BD16-1D3F-A628-6A887A58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14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7DFAD1-CEDB-C70E-BF95-4C5F4BE8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985049-24EF-889D-7EC7-58348919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D7091C-B42E-5474-BCFB-617B2A8FF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0E160-BF3B-A343-A2EF-7C0EFDD5A978}" type="datetimeFigureOut">
              <a:rPr kumimoji="1" lang="zh-TW" altLang="en-US" smtClean="0"/>
              <a:t>2025/12/17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93A486-C1B3-A704-4E59-3711D1CA5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ED88E0-E046-F8D7-2AF6-6BE4EDDDA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296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38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11" Type="http://schemas.openxmlformats.org/officeDocument/2006/relationships/image" Target="../media/image36.jpeg"/><Relationship Id="rId5" Type="http://schemas.openxmlformats.org/officeDocument/2006/relationships/image" Target="../media/image30.jpeg"/><Relationship Id="rId10" Type="http://schemas.openxmlformats.org/officeDocument/2006/relationships/image" Target="../media/image35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Relationship Id="rId14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50.jpe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12" Type="http://schemas.openxmlformats.org/officeDocument/2006/relationships/image" Target="../media/image4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eg"/><Relationship Id="rId11" Type="http://schemas.openxmlformats.org/officeDocument/2006/relationships/image" Target="../media/image48.jpeg"/><Relationship Id="rId5" Type="http://schemas.openxmlformats.org/officeDocument/2006/relationships/image" Target="../media/image42.jpeg"/><Relationship Id="rId10" Type="http://schemas.openxmlformats.org/officeDocument/2006/relationships/image" Target="../media/image47.jpeg"/><Relationship Id="rId4" Type="http://schemas.openxmlformats.org/officeDocument/2006/relationships/image" Target="../media/image41.jpeg"/><Relationship Id="rId9" Type="http://schemas.openxmlformats.org/officeDocument/2006/relationships/image" Target="../media/image46.jpeg"/><Relationship Id="rId14" Type="http://schemas.openxmlformats.org/officeDocument/2006/relationships/image" Target="../media/image5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13FF8-E20E-3C61-EA66-3871584A3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2800" dirty="0"/>
              <a:t>力成測試過程與清洗參數確認</a:t>
            </a:r>
          </a:p>
        </p:txBody>
      </p:sp>
    </p:spTree>
    <p:extLst>
      <p:ext uri="{BB962C8B-B14F-4D97-AF65-F5344CB8AC3E}">
        <p14:creationId xmlns:p14="http://schemas.microsoft.com/office/powerpoint/2010/main" val="136751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9DE1E-6086-1CD8-18F6-1DF19BC3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140" y="1543475"/>
            <a:ext cx="2845718" cy="777875"/>
          </a:xfrm>
        </p:spPr>
        <p:txBody>
          <a:bodyPr>
            <a:normAutofit fontScale="90000"/>
          </a:bodyPr>
          <a:lstStyle/>
          <a:p>
            <a:r>
              <a:rPr kumimoji="1" lang="zh-TW" altLang="en-US" sz="3200" dirty="0"/>
              <a:t>目的與品質標準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667A42-21ED-0704-37F1-671D0831B8AE}"/>
              </a:ext>
            </a:extLst>
          </p:cNvPr>
          <p:cNvSpPr txBox="1"/>
          <p:nvPr/>
        </p:nvSpPr>
        <p:spPr>
          <a:xfrm>
            <a:off x="3726199" y="2741281"/>
            <a:ext cx="473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依照化學洗淨的架構，先驗證清洗流程。</a:t>
            </a:r>
            <a:r>
              <a:rPr kumimoji="1" lang="en-US" altLang="zh-TW" sz="2400" dirty="0"/>
              <a:t>AOI</a:t>
            </a:r>
            <a:r>
              <a:rPr kumimoji="1" lang="zh-TW" altLang="en-US" sz="2400" dirty="0"/>
              <a:t>、厚度、</a:t>
            </a:r>
            <a:r>
              <a:rPr kumimoji="1" lang="en-US" altLang="zh-TW" sz="2400" dirty="0"/>
              <a:t>TTV</a:t>
            </a:r>
            <a:r>
              <a:rPr kumimoji="1" lang="zh-TW" altLang="en-US" sz="2400" dirty="0"/>
              <a:t>，雙方同時測試檢測來確認乾淨度。</a:t>
            </a:r>
          </a:p>
        </p:txBody>
      </p:sp>
    </p:spTree>
    <p:extLst>
      <p:ext uri="{BB962C8B-B14F-4D97-AF65-F5344CB8AC3E}">
        <p14:creationId xmlns:p14="http://schemas.microsoft.com/office/powerpoint/2010/main" val="327829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F488D-8C99-D8D1-9812-1FDDA4E7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4" y="290286"/>
            <a:ext cx="10424886" cy="129581"/>
          </a:xfrm>
        </p:spPr>
        <p:txBody>
          <a:bodyPr>
            <a:noAutofit/>
          </a:bodyPr>
          <a:lstStyle/>
          <a:p>
            <a:r>
              <a:rPr lang="en" altLang="zh-TW" sz="2400" dirty="0">
                <a:latin typeface="Calibri" panose="020F0502020204030204" pitchFamily="34" charset="0"/>
              </a:rPr>
              <a:t>Chemical Qual  1  </a:t>
            </a:r>
            <a:r>
              <a:rPr lang="zh-TW" altLang="en-US" sz="2400" dirty="0">
                <a:latin typeface="Calibri" panose="020F0502020204030204" pitchFamily="34" charset="0"/>
              </a:rPr>
              <a:t>測試紀錄</a:t>
            </a:r>
            <a:br>
              <a:rPr lang="en" altLang="zh-TW" sz="2400" dirty="0">
                <a:latin typeface="Arial" panose="020B0604020202020204" pitchFamily="34" charset="0"/>
              </a:rPr>
            </a:br>
            <a:endParaRPr kumimoji="1" lang="zh-TW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02A03F9-1050-9C1F-3FBA-BDA46F34C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538875"/>
              </p:ext>
            </p:extLst>
          </p:nvPr>
        </p:nvGraphicFramePr>
        <p:xfrm>
          <a:off x="314494" y="540306"/>
          <a:ext cx="5950841" cy="5905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41">
                  <a:extLst>
                    <a:ext uri="{9D8B030D-6E8A-4147-A177-3AD203B41FA5}">
                      <a16:colId xmlns:a16="http://schemas.microsoft.com/office/drawing/2014/main" val="4143821794"/>
                    </a:ext>
                  </a:extLst>
                </a:gridCol>
                <a:gridCol w="1165936">
                  <a:extLst>
                    <a:ext uri="{9D8B030D-6E8A-4147-A177-3AD203B41FA5}">
                      <a16:colId xmlns:a16="http://schemas.microsoft.com/office/drawing/2014/main" val="2037713152"/>
                    </a:ext>
                  </a:extLst>
                </a:gridCol>
                <a:gridCol w="539200">
                  <a:extLst>
                    <a:ext uri="{9D8B030D-6E8A-4147-A177-3AD203B41FA5}">
                      <a16:colId xmlns:a16="http://schemas.microsoft.com/office/drawing/2014/main" val="2220947177"/>
                    </a:ext>
                  </a:extLst>
                </a:gridCol>
                <a:gridCol w="448935">
                  <a:extLst>
                    <a:ext uri="{9D8B030D-6E8A-4147-A177-3AD203B41FA5}">
                      <a16:colId xmlns:a16="http://schemas.microsoft.com/office/drawing/2014/main" val="1156317612"/>
                    </a:ext>
                  </a:extLst>
                </a:gridCol>
                <a:gridCol w="135527">
                  <a:extLst>
                    <a:ext uri="{9D8B030D-6E8A-4147-A177-3AD203B41FA5}">
                      <a16:colId xmlns:a16="http://schemas.microsoft.com/office/drawing/2014/main" val="544512002"/>
                    </a:ext>
                  </a:extLst>
                </a:gridCol>
                <a:gridCol w="512742">
                  <a:extLst>
                    <a:ext uri="{9D8B030D-6E8A-4147-A177-3AD203B41FA5}">
                      <a16:colId xmlns:a16="http://schemas.microsoft.com/office/drawing/2014/main" val="2700040939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796396834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55625276"/>
                    </a:ext>
                  </a:extLst>
                </a:gridCol>
                <a:gridCol w="657704">
                  <a:extLst>
                    <a:ext uri="{9D8B030D-6E8A-4147-A177-3AD203B41FA5}">
                      <a16:colId xmlns:a16="http://schemas.microsoft.com/office/drawing/2014/main" val="2741861712"/>
                    </a:ext>
                  </a:extLst>
                </a:gridCol>
                <a:gridCol w="134148">
                  <a:extLst>
                    <a:ext uri="{9D8B030D-6E8A-4147-A177-3AD203B41FA5}">
                      <a16:colId xmlns:a16="http://schemas.microsoft.com/office/drawing/2014/main" val="2094680280"/>
                    </a:ext>
                  </a:extLst>
                </a:gridCol>
                <a:gridCol w="205718">
                  <a:extLst>
                    <a:ext uri="{9D8B030D-6E8A-4147-A177-3AD203B41FA5}">
                      <a16:colId xmlns:a16="http://schemas.microsoft.com/office/drawing/2014/main" val="3323196155"/>
                    </a:ext>
                  </a:extLst>
                </a:gridCol>
                <a:gridCol w="893728">
                  <a:extLst>
                    <a:ext uri="{9D8B030D-6E8A-4147-A177-3AD203B41FA5}">
                      <a16:colId xmlns:a16="http://schemas.microsoft.com/office/drawing/2014/main" val="4240473332"/>
                    </a:ext>
                  </a:extLst>
                </a:gridCol>
              </a:tblGrid>
              <a:tr h="163624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潔沛企業有限公司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9663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新產品試做評估單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7106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產品名稱（料號）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12"</a:t>
                      </a:r>
                      <a:r>
                        <a:rPr lang="zh-TW" altLang="en-US" sz="1000" u="none" strike="noStrike" dirty="0">
                          <a:effectLst/>
                        </a:rPr>
                        <a:t>基板委外代工清洗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客戶名稱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力成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81141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規格敘述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12"/700um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需求日期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endParaRPr lang="en-US" altLang="zh-TW" sz="1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331005"/>
                  </a:ext>
                </a:extLst>
              </a:tr>
              <a:tr h="163624">
                <a:tc rowSpan="4"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一、客戶需求說明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、客戶提供資料：□規格書■品質標準□圖檔□檢測能力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58401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、樣品需求時間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</a:t>
                      </a:r>
                      <a:r>
                        <a:rPr lang="en-US" altLang="zh-TW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r>
                        <a:rPr lang="zh-TW" altLang="en-US" sz="1000" u="none" strike="noStrike" dirty="0">
                          <a:effectLst/>
                        </a:rPr>
                        <a:t>，</a:t>
                      </a: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片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7626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、包裝方式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數量：原包裝包回，</a:t>
                      </a: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片。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64863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4</a:t>
                      </a:r>
                      <a:r>
                        <a:rPr lang="zh-TW" altLang="en-US" sz="1000" u="none" strike="noStrike" dirty="0">
                          <a:effectLst/>
                        </a:rPr>
                        <a:t>、運輸方式：業務載回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569969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二、技術能力評估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（包括：規格書、品質標準、圖檔、檢測能力等能否到達客戶的要求的評估）： 依力成檢測結果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076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三、產能或加工能力評估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新產品的預計年產量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客戶需求產能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工廠加工產能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3637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四、計劃使用物料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超音波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BL37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zh-TW" altLang="en-US" sz="1000" u="none" strike="noStrike" dirty="0">
                          <a:effectLst/>
                        </a:rPr>
                        <a:t>、終端清洗機</a:t>
                      </a:r>
                      <a:r>
                        <a:rPr lang="en-US" altLang="zh-TW" sz="1000" u="none" strike="noStrike" dirty="0">
                          <a:effectLst/>
                        </a:rPr>
                        <a:t>BL900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6598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五、計劃加工作業流程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超音波清洗機、終端清洗機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73073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六、新產品關鍵技術問題：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 </a:t>
                      </a:r>
                      <a:r>
                        <a:rPr lang="zh-TW" altLang="en-US" sz="1000" u="none" strike="noStrike" dirty="0">
                          <a:effectLst/>
                        </a:rPr>
                        <a:t>超音波清洗除膠的乾淨度。以初期送樣測試之參數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07989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七、加工流程分析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7880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項次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作業內容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作業要點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0760"/>
                  </a:ext>
                </a:extLst>
              </a:tr>
              <a:tr h="314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1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TW" sz="1000" u="none" strike="noStrike" dirty="0">
                          <a:effectLst/>
                        </a:rPr>
                        <a:t>OCR-</a:t>
                      </a:r>
                      <a:r>
                        <a:rPr lang="zh-TW" altLang="en-US" sz="1000" u="none" strike="noStrike" dirty="0">
                          <a:effectLst/>
                        </a:rPr>
                        <a:t>光學字元刪選機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N/A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9846"/>
                  </a:ext>
                </a:extLst>
              </a:tr>
              <a:tr h="384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2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■藥水濃度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■藥水濃度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>
                          <a:effectLst/>
                        </a:rPr>
                        <a:t>100%</a:t>
                      </a:r>
                      <a:endParaRPr lang="zh-TW" altLang="en-US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1343294112"/>
                  </a:ext>
                </a:extLst>
              </a:tr>
              <a:tr h="384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.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TW" sz="1000" u="none" strike="noStrike" dirty="0">
                          <a:effectLst/>
                        </a:rPr>
                        <a:t>RO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3903012203"/>
                  </a:ext>
                </a:extLst>
              </a:tr>
              <a:tr h="384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3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0.9M/MIN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75046"/>
                  </a:ext>
                </a:extLst>
              </a:tr>
              <a:tr h="195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4</a:t>
                      </a:r>
                      <a:r>
                        <a:rPr lang="zh-TW" altLang="en-US" sz="1000" u="none" strike="noStrike">
                          <a:effectLst/>
                        </a:rPr>
                        <a:t>、 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AOI</a:t>
                      </a:r>
                      <a:r>
                        <a:rPr lang="zh-TW" altLang="en-US" sz="1000" u="none" strike="noStrike" dirty="0">
                          <a:effectLst/>
                        </a:rPr>
                        <a:t>自動光學檢測機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67715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TTV&amp;THICKNESS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5891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6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目視檢驗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品質標準如下：無破損，表面無汙染物。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06736"/>
                  </a:ext>
                </a:extLst>
              </a:tr>
              <a:tr h="163624">
                <a:tc rowSpan="2"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八、治具需求分析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■使用現有治具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□需重新開發治具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9765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預估治具數量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1PCS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2082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九、包裝要求：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■依據客戶標準包裝□依據公司標準包裝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2074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評估結論：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●可行                  ○修改後可行                   ○不可行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9548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核准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審核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製作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0925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1893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編號：</a:t>
                      </a:r>
                      <a:r>
                        <a:rPr lang="en" sz="1000" u="none" strike="noStrike" dirty="0">
                          <a:effectLst/>
                        </a:rPr>
                        <a:t>MP09-01(0</a:t>
                      </a: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r>
                        <a:rPr lang="en" sz="1000" u="none" strike="noStrike" dirty="0">
                          <a:effectLst/>
                        </a:rPr>
                        <a:t>)A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版本：</a:t>
                      </a:r>
                      <a:r>
                        <a:rPr lang="en-US" altLang="zh-TW" sz="1000" u="none" strike="noStrike">
                          <a:effectLst/>
                        </a:rPr>
                        <a:t>1.0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日期：</a:t>
                      </a:r>
                      <a:r>
                        <a:rPr lang="en-US" altLang="zh-TW" sz="1000" u="none" strike="noStrike" dirty="0">
                          <a:effectLst/>
                        </a:rPr>
                        <a:t>2025/12/10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57900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DBFA04B-8D80-54EA-4DF4-B91150094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23622"/>
              </p:ext>
            </p:extLst>
          </p:nvPr>
        </p:nvGraphicFramePr>
        <p:xfrm>
          <a:off x="6610121" y="551323"/>
          <a:ext cx="5133863" cy="5422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09">
                  <a:extLst>
                    <a:ext uri="{9D8B030D-6E8A-4147-A177-3AD203B41FA5}">
                      <a16:colId xmlns:a16="http://schemas.microsoft.com/office/drawing/2014/main" val="153589701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00325139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16539747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202775605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922791501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93291326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3687358072"/>
                    </a:ext>
                  </a:extLst>
                </a:gridCol>
              </a:tblGrid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潔沛企業有限公司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269034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藥水測試紀錄表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56595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產品名稱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吋玻璃基板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客戶名稱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力成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08772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規格敘述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</a:t>
                      </a:r>
                      <a:r>
                        <a:rPr lang="en-US" altLang="zh-TW" sz="1200" u="none" strike="noStrike" dirty="0">
                          <a:effectLst/>
                        </a:rPr>
                        <a:t>/700</a:t>
                      </a:r>
                      <a:r>
                        <a:rPr lang="en" sz="1200" u="none" strike="noStrike">
                          <a:effectLst/>
                        </a:rPr>
                        <a:t>um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測試日期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2025</a:t>
                      </a:r>
                      <a:r>
                        <a:rPr lang="zh-TW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月</a:t>
                      </a:r>
                      <a:r>
                        <a:rPr lang="en-US" altLang="zh-TW" sz="1200" u="none" strike="noStrike" dirty="0">
                          <a:effectLst/>
                        </a:rPr>
                        <a:t>10</a:t>
                      </a:r>
                      <a:r>
                        <a:rPr lang="zh-TW" altLang="en-US" sz="1200" u="none" strike="noStrike" dirty="0">
                          <a:effectLst/>
                        </a:rPr>
                        <a:t>日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9444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測試過程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009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</a:t>
                      </a:r>
                      <a:r>
                        <a:rPr lang="en-US" altLang="zh-TW" sz="1200" u="none" strike="noStrike" dirty="0">
                          <a:effectLst/>
                        </a:rPr>
                        <a:t>1: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17465"/>
                  </a:ext>
                </a:extLst>
              </a:tr>
              <a:tr h="8290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超音波條件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BL-3729</a:t>
                      </a:r>
                      <a:r>
                        <a:rPr lang="zh-TW" altLang="en-US" sz="1200" u="none" strike="noStrike" dirty="0">
                          <a:effectLst/>
                        </a:rPr>
                        <a:t>藥水濃度</a:t>
                      </a:r>
                      <a:r>
                        <a:rPr lang="en-US" altLang="zh-TW" sz="1200" u="none" strike="noStrike" dirty="0">
                          <a:effectLst/>
                        </a:rPr>
                        <a:t>:100%</a:t>
                      </a:r>
                      <a:r>
                        <a:rPr lang="zh-TW" altLang="en-US" sz="1200" u="none" strike="noStrike" dirty="0">
                          <a:effectLst/>
                        </a:rPr>
                        <a:t>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:75°</a:t>
                      </a:r>
                      <a:r>
                        <a:rPr lang="en" sz="1200" u="none" strike="noStrike" dirty="0">
                          <a:effectLst/>
                        </a:rPr>
                        <a:t>C、</a:t>
                      </a:r>
                      <a:r>
                        <a:rPr lang="zh-TW" altLang="en-US" sz="1200" u="none" strike="noStrike" dirty="0">
                          <a:effectLst/>
                        </a:rPr>
                        <a:t>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:20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 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室溫、純浸泡時間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:10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分鐘。</a:t>
                      </a:r>
                      <a:br>
                        <a:rPr lang="zh-TW" altLang="en-US" sz="1200" u="none" strike="noStrike" dirty="0">
                          <a:effectLst/>
                        </a:rPr>
                      </a:b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062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終端清洗機條件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effectLst/>
                        </a:rPr>
                        <a:t>BL-900</a:t>
                      </a:r>
                      <a:r>
                        <a:rPr lang="zh-TW" altLang="en-US" sz="1200" u="none" strike="noStrike" dirty="0">
                          <a:effectLst/>
                        </a:rPr>
                        <a:t>清洗劑、溫度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常溫、速度</a:t>
                      </a:r>
                      <a:r>
                        <a:rPr lang="en-US" altLang="zh-TW" sz="1200" u="none" strike="noStrike" dirty="0">
                          <a:effectLst/>
                        </a:rPr>
                        <a:t>:0.9</a:t>
                      </a:r>
                      <a:r>
                        <a:rPr lang="en" sz="1200" u="none" strike="noStrike" dirty="0">
                          <a:effectLst/>
                        </a:rPr>
                        <a:t>M/MIN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2164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使用治具</a:t>
                      </a:r>
                      <a:r>
                        <a:rPr lang="en-US" altLang="zh-TW" sz="1200" u="none" strike="noStrike" dirty="0">
                          <a:effectLst/>
                        </a:rPr>
                        <a:t>:12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吋洗淨藍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0446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2899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清洗後樣品外觀無腐蝕現象，目視檢驗無污染可放小量測試清洗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783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142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5035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8209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7174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02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18132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合格 ■                                  不合格   □             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9379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核准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審核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製作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2197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11671"/>
                  </a:ext>
                </a:extLst>
              </a:tr>
              <a:tr h="41454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編號：</a:t>
                      </a:r>
                      <a:r>
                        <a:rPr lang="en" sz="1200" u="none" strike="noStrike" dirty="0">
                          <a:effectLst/>
                        </a:rPr>
                        <a:t>MP09-02(0</a:t>
                      </a:r>
                      <a:r>
                        <a:rPr lang="en-US" altLang="zh-TW" sz="1200" u="none" strike="noStrike" dirty="0">
                          <a:effectLst/>
                        </a:rPr>
                        <a:t>10</a:t>
                      </a:r>
                      <a:r>
                        <a:rPr lang="en" sz="1200" u="none" strike="noStrike" dirty="0">
                          <a:effectLst/>
                        </a:rPr>
                        <a:t>)A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63544"/>
                  </a:ext>
                </a:extLst>
              </a:tr>
            </a:tbl>
          </a:graphicData>
        </a:graphic>
      </p:graphicFrame>
      <p:pic>
        <p:nvPicPr>
          <p:cNvPr id="16" name="Check Box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00000000-0008-0000-0000-00000104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567" y="7480555"/>
            <a:ext cx="225033" cy="127310"/>
          </a:xfrm>
          <a:prstGeom prst="rect">
            <a:avLst/>
          </a:prstGeom>
        </p:spPr>
      </p:pic>
      <p:pic>
        <p:nvPicPr>
          <p:cNvPr id="17" name="Check Box 2">
            <a:extLst>
              <a:ext uri="{63B3BB69-23CF-44E3-9099-C40C66FF867C}">
                <a14:compatExt xmlns:a14="http://schemas.microsoft.com/office/drawing/2010/main" spid="_x0000_s1026"/>
              </a:ext>
              <a:ext uri="{FF2B5EF4-FFF2-40B4-BE49-F238E27FC236}">
                <a16:creationId xmlns:a16="http://schemas.microsoft.com/office/drawing/2014/main" id="{00000000-0008-0000-0000-00000204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67" y="7467855"/>
            <a:ext cx="225033" cy="12731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7F1688C4-59F6-D790-129F-709ECBB42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467" y="2311731"/>
            <a:ext cx="225033" cy="1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FB477C0E-FBA7-2C40-3637-F39E1AEFF1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6293" y="2311655"/>
            <a:ext cx="238270" cy="12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24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9D43-F3ED-88F9-A4F8-9588B5AF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2B164C-20B5-3128-CCA8-A51B6B92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4" y="290286"/>
            <a:ext cx="10424886" cy="129581"/>
          </a:xfrm>
        </p:spPr>
        <p:txBody>
          <a:bodyPr>
            <a:noAutofit/>
          </a:bodyPr>
          <a:lstStyle/>
          <a:p>
            <a:r>
              <a:rPr lang="en" altLang="zh-TW" sz="2400" dirty="0">
                <a:latin typeface="Calibri" panose="020F0502020204030204" pitchFamily="34" charset="0"/>
              </a:rPr>
              <a:t>Chemical Qual  </a:t>
            </a:r>
            <a:r>
              <a:rPr lang="en-US" altLang="zh-TW" sz="2400" dirty="0">
                <a:latin typeface="Calibri" panose="020F0502020204030204" pitchFamily="34" charset="0"/>
              </a:rPr>
              <a:t>2</a:t>
            </a:r>
            <a:r>
              <a:rPr lang="en" altLang="zh-TW" sz="2400" dirty="0">
                <a:latin typeface="Calibri" panose="020F0502020204030204" pitchFamily="34" charset="0"/>
              </a:rPr>
              <a:t>  </a:t>
            </a:r>
            <a:r>
              <a:rPr lang="zh-TW" altLang="en-US" sz="2400" dirty="0">
                <a:latin typeface="Calibri" panose="020F0502020204030204" pitchFamily="34" charset="0"/>
              </a:rPr>
              <a:t>測試紀錄</a:t>
            </a:r>
            <a:br>
              <a:rPr lang="en" altLang="zh-TW" sz="2400" dirty="0">
                <a:latin typeface="Arial" panose="020B0604020202020204" pitchFamily="34" charset="0"/>
              </a:rPr>
            </a:br>
            <a:endParaRPr kumimoji="1" lang="zh-TW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4D3FA0-126D-23AF-AEB5-33BEE094E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191549"/>
              </p:ext>
            </p:extLst>
          </p:nvPr>
        </p:nvGraphicFramePr>
        <p:xfrm>
          <a:off x="314494" y="540306"/>
          <a:ext cx="5950841" cy="5905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41">
                  <a:extLst>
                    <a:ext uri="{9D8B030D-6E8A-4147-A177-3AD203B41FA5}">
                      <a16:colId xmlns:a16="http://schemas.microsoft.com/office/drawing/2014/main" val="4143821794"/>
                    </a:ext>
                  </a:extLst>
                </a:gridCol>
                <a:gridCol w="1165936">
                  <a:extLst>
                    <a:ext uri="{9D8B030D-6E8A-4147-A177-3AD203B41FA5}">
                      <a16:colId xmlns:a16="http://schemas.microsoft.com/office/drawing/2014/main" val="2037713152"/>
                    </a:ext>
                  </a:extLst>
                </a:gridCol>
                <a:gridCol w="539200">
                  <a:extLst>
                    <a:ext uri="{9D8B030D-6E8A-4147-A177-3AD203B41FA5}">
                      <a16:colId xmlns:a16="http://schemas.microsoft.com/office/drawing/2014/main" val="2220947177"/>
                    </a:ext>
                  </a:extLst>
                </a:gridCol>
                <a:gridCol w="448935">
                  <a:extLst>
                    <a:ext uri="{9D8B030D-6E8A-4147-A177-3AD203B41FA5}">
                      <a16:colId xmlns:a16="http://schemas.microsoft.com/office/drawing/2014/main" val="1156317612"/>
                    </a:ext>
                  </a:extLst>
                </a:gridCol>
                <a:gridCol w="135527">
                  <a:extLst>
                    <a:ext uri="{9D8B030D-6E8A-4147-A177-3AD203B41FA5}">
                      <a16:colId xmlns:a16="http://schemas.microsoft.com/office/drawing/2014/main" val="544512002"/>
                    </a:ext>
                  </a:extLst>
                </a:gridCol>
                <a:gridCol w="512742">
                  <a:extLst>
                    <a:ext uri="{9D8B030D-6E8A-4147-A177-3AD203B41FA5}">
                      <a16:colId xmlns:a16="http://schemas.microsoft.com/office/drawing/2014/main" val="2700040939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796396834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55625276"/>
                    </a:ext>
                  </a:extLst>
                </a:gridCol>
                <a:gridCol w="657704">
                  <a:extLst>
                    <a:ext uri="{9D8B030D-6E8A-4147-A177-3AD203B41FA5}">
                      <a16:colId xmlns:a16="http://schemas.microsoft.com/office/drawing/2014/main" val="2741861712"/>
                    </a:ext>
                  </a:extLst>
                </a:gridCol>
                <a:gridCol w="134148">
                  <a:extLst>
                    <a:ext uri="{9D8B030D-6E8A-4147-A177-3AD203B41FA5}">
                      <a16:colId xmlns:a16="http://schemas.microsoft.com/office/drawing/2014/main" val="2094680280"/>
                    </a:ext>
                  </a:extLst>
                </a:gridCol>
                <a:gridCol w="205718">
                  <a:extLst>
                    <a:ext uri="{9D8B030D-6E8A-4147-A177-3AD203B41FA5}">
                      <a16:colId xmlns:a16="http://schemas.microsoft.com/office/drawing/2014/main" val="3323196155"/>
                    </a:ext>
                  </a:extLst>
                </a:gridCol>
                <a:gridCol w="893728">
                  <a:extLst>
                    <a:ext uri="{9D8B030D-6E8A-4147-A177-3AD203B41FA5}">
                      <a16:colId xmlns:a16="http://schemas.microsoft.com/office/drawing/2014/main" val="4240473332"/>
                    </a:ext>
                  </a:extLst>
                </a:gridCol>
              </a:tblGrid>
              <a:tr h="163624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潔沛企業有限公司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9663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新產品試做評估單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7106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產品名稱（料號）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12"</a:t>
                      </a:r>
                      <a:r>
                        <a:rPr lang="zh-TW" altLang="en-US" sz="1000" u="none" strike="noStrike" dirty="0">
                          <a:effectLst/>
                        </a:rPr>
                        <a:t>基板委外代工清洗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客戶名稱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力成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81141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規格敘述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12"/700um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需求日期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endParaRPr lang="en-US" altLang="zh-TW" sz="1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331005"/>
                  </a:ext>
                </a:extLst>
              </a:tr>
              <a:tr h="163624">
                <a:tc rowSpan="4"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一、客戶需求說明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、客戶提供資料：□規格書■品質標準□圖檔□檢測能力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58401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、樣品需求時間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</a:t>
                      </a:r>
                      <a:r>
                        <a:rPr lang="en-US" altLang="zh-TW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r>
                        <a:rPr lang="zh-TW" altLang="en-US" sz="1000" u="none" strike="noStrike" dirty="0">
                          <a:effectLst/>
                        </a:rPr>
                        <a:t>，</a:t>
                      </a: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片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7626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、包裝方式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數量：原包裝包回，</a:t>
                      </a: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片。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64863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4</a:t>
                      </a:r>
                      <a:r>
                        <a:rPr lang="zh-TW" altLang="en-US" sz="1000" u="none" strike="noStrike" dirty="0">
                          <a:effectLst/>
                        </a:rPr>
                        <a:t>、運輸方式：業務載回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569969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二、技術能力評估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（包括：規格書、品質標準、圖檔、檢測能力等能否到達客戶的要求的評估）： 依力成檢測結果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076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三、產能或加工能力評估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新產品的預計年產量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客戶需求產能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工廠加工產能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3637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四、計劃使用物料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超音波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BL37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zh-TW" altLang="en-US" sz="1000" u="none" strike="noStrike" dirty="0">
                          <a:effectLst/>
                        </a:rPr>
                        <a:t>、終端清洗機</a:t>
                      </a:r>
                      <a:r>
                        <a:rPr lang="en-US" altLang="zh-TW" sz="1000" u="none" strike="noStrike" dirty="0">
                          <a:effectLst/>
                        </a:rPr>
                        <a:t>BL900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6598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五、計劃加工作業流程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超音波清洗機、終端清洗機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73073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六、新產品關鍵技術問題：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 </a:t>
                      </a:r>
                      <a:r>
                        <a:rPr lang="zh-TW" altLang="en-US" sz="1000" u="none" strike="noStrike" dirty="0">
                          <a:effectLst/>
                        </a:rPr>
                        <a:t>超音波清洗除膠的乾淨度。以初期送樣測試之參數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07989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七、加工流程分析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7880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項次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作業內容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作業要點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0760"/>
                  </a:ext>
                </a:extLst>
              </a:tr>
              <a:tr h="314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1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TW" sz="1000" u="none" strike="noStrike" dirty="0">
                          <a:effectLst/>
                        </a:rPr>
                        <a:t>OCR-</a:t>
                      </a:r>
                      <a:r>
                        <a:rPr lang="zh-TW" altLang="en-US" sz="1000" u="none" strike="noStrike" dirty="0">
                          <a:effectLst/>
                        </a:rPr>
                        <a:t>光學字元刪選機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N/A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9846"/>
                  </a:ext>
                </a:extLst>
              </a:tr>
              <a:tr h="384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2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■藥水濃度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■藥水濃度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>
                          <a:effectLst/>
                        </a:rPr>
                        <a:t>100%</a:t>
                      </a:r>
                      <a:endParaRPr lang="zh-TW" altLang="en-US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1343294112"/>
                  </a:ext>
                </a:extLst>
              </a:tr>
              <a:tr h="384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.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TW" sz="1000" u="none" strike="noStrike" dirty="0">
                          <a:effectLst/>
                        </a:rPr>
                        <a:t>RO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3903012203"/>
                  </a:ext>
                </a:extLst>
              </a:tr>
              <a:tr h="384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3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0.9M/MIN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75046"/>
                  </a:ext>
                </a:extLst>
              </a:tr>
              <a:tr h="195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4</a:t>
                      </a:r>
                      <a:r>
                        <a:rPr lang="zh-TW" altLang="en-US" sz="1000" u="none" strike="noStrike">
                          <a:effectLst/>
                        </a:rPr>
                        <a:t>、 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AOI</a:t>
                      </a:r>
                      <a:r>
                        <a:rPr lang="zh-TW" altLang="en-US" sz="1000" u="none" strike="noStrike" dirty="0">
                          <a:effectLst/>
                        </a:rPr>
                        <a:t>自動光學檢測機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67715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TTV&amp;THICKNESS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5891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6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目視檢驗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品質標準如下：無破損，表面無汙染物。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06736"/>
                  </a:ext>
                </a:extLst>
              </a:tr>
              <a:tr h="163624">
                <a:tc rowSpan="2"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八、治具需求分析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■使用現有治具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□需重新開發治具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9765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預估治具數量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1PCS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2082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九、包裝要求：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■依據客戶標準包裝□依據公司標準包裝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2074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評估結論：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●可行                  ○修改後可行                   ○不可行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9548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核准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審核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製作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0925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1893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編號：</a:t>
                      </a:r>
                      <a:r>
                        <a:rPr lang="en" sz="1000" u="none" strike="noStrike" dirty="0">
                          <a:effectLst/>
                        </a:rPr>
                        <a:t>MP09-01(0</a:t>
                      </a:r>
                      <a:r>
                        <a:rPr lang="en-US" altLang="zh-TW" sz="1000" u="none" strike="noStrike" dirty="0">
                          <a:effectLst/>
                        </a:rPr>
                        <a:t>11</a:t>
                      </a:r>
                      <a:r>
                        <a:rPr lang="en" sz="1000" u="none" strike="noStrike" dirty="0">
                          <a:effectLst/>
                        </a:rPr>
                        <a:t>)A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版本：</a:t>
                      </a:r>
                      <a:r>
                        <a:rPr lang="en-US" altLang="zh-TW" sz="1000" u="none" strike="noStrike">
                          <a:effectLst/>
                        </a:rPr>
                        <a:t>1.0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日期：</a:t>
                      </a:r>
                      <a:r>
                        <a:rPr lang="en-US" altLang="zh-TW" sz="1000" u="none" strike="noStrike" dirty="0">
                          <a:effectLst/>
                        </a:rPr>
                        <a:t>2025/12/10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57900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6F5239A-2469-609D-1BF3-B036CC791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095224"/>
              </p:ext>
            </p:extLst>
          </p:nvPr>
        </p:nvGraphicFramePr>
        <p:xfrm>
          <a:off x="6610121" y="551323"/>
          <a:ext cx="5133863" cy="5422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09">
                  <a:extLst>
                    <a:ext uri="{9D8B030D-6E8A-4147-A177-3AD203B41FA5}">
                      <a16:colId xmlns:a16="http://schemas.microsoft.com/office/drawing/2014/main" val="153589701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00325139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16539747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202775605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922791501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93291326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3687358072"/>
                    </a:ext>
                  </a:extLst>
                </a:gridCol>
              </a:tblGrid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潔沛企業有限公司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269034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藥水測試紀錄表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56595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產品名稱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吋玻璃基板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客戶名稱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力成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08772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規格敘述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</a:t>
                      </a:r>
                      <a:r>
                        <a:rPr lang="en-US" altLang="zh-TW" sz="1200" u="none" strike="noStrike" dirty="0">
                          <a:effectLst/>
                        </a:rPr>
                        <a:t>/700</a:t>
                      </a:r>
                      <a:r>
                        <a:rPr lang="en" sz="1200" u="none" strike="noStrike">
                          <a:effectLst/>
                        </a:rPr>
                        <a:t>um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測試日期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2025</a:t>
                      </a:r>
                      <a:r>
                        <a:rPr lang="zh-TW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月</a:t>
                      </a:r>
                      <a:r>
                        <a:rPr lang="en-US" altLang="zh-TW" sz="1200" u="none" strike="noStrike" dirty="0">
                          <a:effectLst/>
                        </a:rPr>
                        <a:t>10</a:t>
                      </a:r>
                      <a:r>
                        <a:rPr lang="zh-TW" altLang="en-US" sz="1200" u="none" strike="noStrike" dirty="0">
                          <a:effectLst/>
                        </a:rPr>
                        <a:t>日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9444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測試過程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009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</a:t>
                      </a:r>
                      <a:r>
                        <a:rPr lang="en-US" altLang="zh-TW" sz="1200" u="none" strike="noStrike" dirty="0">
                          <a:effectLst/>
                        </a:rPr>
                        <a:t>1: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17465"/>
                  </a:ext>
                </a:extLst>
              </a:tr>
              <a:tr h="8290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超音波條件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BL-3729</a:t>
                      </a:r>
                      <a:r>
                        <a:rPr lang="zh-TW" altLang="en-US" sz="1200" u="none" strike="noStrike" dirty="0">
                          <a:effectLst/>
                        </a:rPr>
                        <a:t>藥水濃度</a:t>
                      </a:r>
                      <a:r>
                        <a:rPr lang="en-US" altLang="zh-TW" sz="1200" u="none" strike="noStrike" dirty="0">
                          <a:effectLst/>
                        </a:rPr>
                        <a:t>:100%</a:t>
                      </a:r>
                      <a:r>
                        <a:rPr lang="zh-TW" altLang="en-US" sz="1200" u="none" strike="noStrike" dirty="0">
                          <a:effectLst/>
                        </a:rPr>
                        <a:t>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:75°</a:t>
                      </a:r>
                      <a:r>
                        <a:rPr lang="en" sz="1200" u="none" strike="noStrike" dirty="0">
                          <a:effectLst/>
                        </a:rPr>
                        <a:t>C、</a:t>
                      </a:r>
                      <a:r>
                        <a:rPr lang="zh-TW" altLang="en-US" sz="1200" u="none" strike="noStrike" dirty="0">
                          <a:effectLst/>
                        </a:rPr>
                        <a:t>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:20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 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室溫、純浸泡時間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:10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分鐘。</a:t>
                      </a:r>
                      <a:br>
                        <a:rPr lang="zh-TW" altLang="en-US" sz="1200" u="none" strike="noStrike" dirty="0">
                          <a:effectLst/>
                        </a:rPr>
                      </a:b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062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終端清洗機條件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effectLst/>
                        </a:rPr>
                        <a:t>BL-900</a:t>
                      </a:r>
                      <a:r>
                        <a:rPr lang="zh-TW" altLang="en-US" sz="1200" u="none" strike="noStrike" dirty="0">
                          <a:effectLst/>
                        </a:rPr>
                        <a:t>清洗劑、溫度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常溫、速度</a:t>
                      </a:r>
                      <a:r>
                        <a:rPr lang="en-US" altLang="zh-TW" sz="1200" u="none" strike="noStrike" dirty="0">
                          <a:effectLst/>
                        </a:rPr>
                        <a:t>:0.9</a:t>
                      </a:r>
                      <a:r>
                        <a:rPr lang="en" sz="1200" u="none" strike="noStrike" dirty="0">
                          <a:effectLst/>
                        </a:rPr>
                        <a:t>M/MIN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2164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使用治具</a:t>
                      </a:r>
                      <a:r>
                        <a:rPr lang="en-US" altLang="zh-TW" sz="1200" u="none" strike="noStrike" dirty="0">
                          <a:effectLst/>
                        </a:rPr>
                        <a:t>:12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吋洗淨藍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0446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2899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清洗後樣品外觀無腐蝕現象，目視檢驗無污染可放量測試清洗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783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142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5035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8209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7174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02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18132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合格 ■                                     不合格   □              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9379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核准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審核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製作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2197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11671"/>
                  </a:ext>
                </a:extLst>
              </a:tr>
              <a:tr h="41454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編號：</a:t>
                      </a:r>
                      <a:r>
                        <a:rPr lang="en" sz="1200" u="none" strike="noStrike" dirty="0">
                          <a:effectLst/>
                        </a:rPr>
                        <a:t>MP09-02(0</a:t>
                      </a:r>
                      <a:r>
                        <a:rPr lang="en-US" altLang="zh-TW" sz="1200" u="none" strike="noStrike" dirty="0">
                          <a:effectLst/>
                        </a:rPr>
                        <a:t>11</a:t>
                      </a:r>
                      <a:r>
                        <a:rPr lang="en" sz="1200" u="none" strike="noStrike" dirty="0">
                          <a:effectLst/>
                        </a:rPr>
                        <a:t>)A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63544"/>
                  </a:ext>
                </a:extLst>
              </a:tr>
            </a:tbl>
          </a:graphicData>
        </a:graphic>
      </p:graphicFrame>
      <p:pic>
        <p:nvPicPr>
          <p:cNvPr id="16" name="Check Box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C6CA9C13-789E-92E9-E3BC-AECFEEFCF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567" y="7480555"/>
            <a:ext cx="225033" cy="127310"/>
          </a:xfrm>
          <a:prstGeom prst="rect">
            <a:avLst/>
          </a:prstGeom>
        </p:spPr>
      </p:pic>
      <p:pic>
        <p:nvPicPr>
          <p:cNvPr id="17" name="Check Box 2">
            <a:extLst>
              <a:ext uri="{63B3BB69-23CF-44E3-9099-C40C66FF867C}">
                <a14:compatExt xmlns:a14="http://schemas.microsoft.com/office/drawing/2010/main" spid="_x0000_s1026"/>
              </a:ext>
              <a:ext uri="{FF2B5EF4-FFF2-40B4-BE49-F238E27FC236}">
                <a16:creationId xmlns:a16="http://schemas.microsoft.com/office/drawing/2014/main" id="{CCB6B87F-52B4-F6BA-9286-6EB5F6DB1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67" y="7467855"/>
            <a:ext cx="225033" cy="12731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2B63C356-4025-F324-14F8-487ACD467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467" y="2311731"/>
            <a:ext cx="225033" cy="1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DA9CAC8A-D187-CF97-31D6-17F235C4CB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6293" y="2311655"/>
            <a:ext cx="238270" cy="12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22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3F01-3089-DF79-8E6E-EB87FAC5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EFD96-F886-6C78-6C97-CB16CC0F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4" y="290286"/>
            <a:ext cx="10424886" cy="129581"/>
          </a:xfrm>
        </p:spPr>
        <p:txBody>
          <a:bodyPr>
            <a:noAutofit/>
          </a:bodyPr>
          <a:lstStyle/>
          <a:p>
            <a:r>
              <a:rPr lang="en" altLang="zh-TW" sz="2400" dirty="0">
                <a:latin typeface="Calibri" panose="020F0502020204030204" pitchFamily="34" charset="0"/>
              </a:rPr>
              <a:t>Chemical Qual  </a:t>
            </a:r>
            <a:r>
              <a:rPr lang="en-US" altLang="zh-TW" sz="2400" dirty="0">
                <a:latin typeface="Calibri" panose="020F0502020204030204" pitchFamily="34" charset="0"/>
              </a:rPr>
              <a:t>3</a:t>
            </a:r>
            <a:r>
              <a:rPr lang="en" altLang="zh-TW" sz="2400" dirty="0">
                <a:latin typeface="Calibri" panose="020F0502020204030204" pitchFamily="34" charset="0"/>
              </a:rPr>
              <a:t>  </a:t>
            </a:r>
            <a:r>
              <a:rPr lang="zh-TW" altLang="en-US" sz="2400" dirty="0">
                <a:latin typeface="Calibri" panose="020F0502020204030204" pitchFamily="34" charset="0"/>
              </a:rPr>
              <a:t>測試紀錄</a:t>
            </a:r>
            <a:br>
              <a:rPr lang="en" altLang="zh-TW" sz="2400" dirty="0">
                <a:latin typeface="Arial" panose="020B0604020202020204" pitchFamily="34" charset="0"/>
              </a:rPr>
            </a:br>
            <a:endParaRPr kumimoji="1" lang="zh-TW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8EAE0B-5BC9-5B01-FEA7-0945A73AA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17015"/>
              </p:ext>
            </p:extLst>
          </p:nvPr>
        </p:nvGraphicFramePr>
        <p:xfrm>
          <a:off x="314494" y="540306"/>
          <a:ext cx="5950841" cy="5905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41">
                  <a:extLst>
                    <a:ext uri="{9D8B030D-6E8A-4147-A177-3AD203B41FA5}">
                      <a16:colId xmlns:a16="http://schemas.microsoft.com/office/drawing/2014/main" val="4143821794"/>
                    </a:ext>
                  </a:extLst>
                </a:gridCol>
                <a:gridCol w="1165936">
                  <a:extLst>
                    <a:ext uri="{9D8B030D-6E8A-4147-A177-3AD203B41FA5}">
                      <a16:colId xmlns:a16="http://schemas.microsoft.com/office/drawing/2014/main" val="2037713152"/>
                    </a:ext>
                  </a:extLst>
                </a:gridCol>
                <a:gridCol w="539200">
                  <a:extLst>
                    <a:ext uri="{9D8B030D-6E8A-4147-A177-3AD203B41FA5}">
                      <a16:colId xmlns:a16="http://schemas.microsoft.com/office/drawing/2014/main" val="2220947177"/>
                    </a:ext>
                  </a:extLst>
                </a:gridCol>
                <a:gridCol w="448935">
                  <a:extLst>
                    <a:ext uri="{9D8B030D-6E8A-4147-A177-3AD203B41FA5}">
                      <a16:colId xmlns:a16="http://schemas.microsoft.com/office/drawing/2014/main" val="1156317612"/>
                    </a:ext>
                  </a:extLst>
                </a:gridCol>
                <a:gridCol w="135527">
                  <a:extLst>
                    <a:ext uri="{9D8B030D-6E8A-4147-A177-3AD203B41FA5}">
                      <a16:colId xmlns:a16="http://schemas.microsoft.com/office/drawing/2014/main" val="544512002"/>
                    </a:ext>
                  </a:extLst>
                </a:gridCol>
                <a:gridCol w="512742">
                  <a:extLst>
                    <a:ext uri="{9D8B030D-6E8A-4147-A177-3AD203B41FA5}">
                      <a16:colId xmlns:a16="http://schemas.microsoft.com/office/drawing/2014/main" val="2700040939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796396834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55625276"/>
                    </a:ext>
                  </a:extLst>
                </a:gridCol>
                <a:gridCol w="657704">
                  <a:extLst>
                    <a:ext uri="{9D8B030D-6E8A-4147-A177-3AD203B41FA5}">
                      <a16:colId xmlns:a16="http://schemas.microsoft.com/office/drawing/2014/main" val="2741861712"/>
                    </a:ext>
                  </a:extLst>
                </a:gridCol>
                <a:gridCol w="134148">
                  <a:extLst>
                    <a:ext uri="{9D8B030D-6E8A-4147-A177-3AD203B41FA5}">
                      <a16:colId xmlns:a16="http://schemas.microsoft.com/office/drawing/2014/main" val="2094680280"/>
                    </a:ext>
                  </a:extLst>
                </a:gridCol>
                <a:gridCol w="205718">
                  <a:extLst>
                    <a:ext uri="{9D8B030D-6E8A-4147-A177-3AD203B41FA5}">
                      <a16:colId xmlns:a16="http://schemas.microsoft.com/office/drawing/2014/main" val="3323196155"/>
                    </a:ext>
                  </a:extLst>
                </a:gridCol>
                <a:gridCol w="893728">
                  <a:extLst>
                    <a:ext uri="{9D8B030D-6E8A-4147-A177-3AD203B41FA5}">
                      <a16:colId xmlns:a16="http://schemas.microsoft.com/office/drawing/2014/main" val="4240473332"/>
                    </a:ext>
                  </a:extLst>
                </a:gridCol>
              </a:tblGrid>
              <a:tr h="163624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潔沛企業有限公司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9663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新產品試做評估單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7106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產品名稱（料號）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12"</a:t>
                      </a:r>
                      <a:r>
                        <a:rPr lang="zh-TW" altLang="en-US" sz="1000" u="none" strike="noStrike" dirty="0">
                          <a:effectLst/>
                        </a:rPr>
                        <a:t>基板委外代工清洗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客戶名稱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力成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81141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規格敘述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12"/700um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需求日期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endParaRPr lang="en-US" altLang="zh-TW" sz="1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331005"/>
                  </a:ext>
                </a:extLst>
              </a:tr>
              <a:tr h="163624">
                <a:tc rowSpan="4"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一、客戶需求說明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、客戶提供資料：□規格書■品質標準□圖檔□檢測能力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58401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、樣品需求時間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</a:t>
                      </a:r>
                      <a:r>
                        <a:rPr lang="en-US" altLang="zh-TW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2025/12/18</a:t>
                      </a:r>
                      <a:r>
                        <a:rPr lang="zh-TW" altLang="en-US" sz="1000" u="none" strike="noStrike" dirty="0">
                          <a:effectLst/>
                        </a:rPr>
                        <a:t>，</a:t>
                      </a:r>
                      <a:r>
                        <a:rPr lang="en-US" altLang="zh-TW" sz="1000" u="none" strike="noStrike" dirty="0">
                          <a:effectLst/>
                        </a:rPr>
                        <a:t>19</a:t>
                      </a:r>
                      <a:r>
                        <a:rPr lang="zh-TW" altLang="en-US" sz="1000" u="none" strike="noStrike" dirty="0">
                          <a:effectLst/>
                        </a:rPr>
                        <a:t>片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7626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、包裝方式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數量：原包裝包回，</a:t>
                      </a:r>
                      <a:r>
                        <a:rPr lang="en-US" altLang="zh-TW" sz="1000" u="none" strike="noStrike" dirty="0">
                          <a:effectLst/>
                        </a:rPr>
                        <a:t>19</a:t>
                      </a:r>
                      <a:r>
                        <a:rPr lang="zh-TW" altLang="en-US" sz="1000" u="none" strike="noStrike" dirty="0">
                          <a:effectLst/>
                        </a:rPr>
                        <a:t>片。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64863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4</a:t>
                      </a:r>
                      <a:r>
                        <a:rPr lang="zh-TW" altLang="en-US" sz="1000" u="none" strike="noStrike" dirty="0">
                          <a:effectLst/>
                        </a:rPr>
                        <a:t>、運輸方式：業務載回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569969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二、技術能力評估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（包括：規格書、品質標準、圖檔、檢測能力等能否到達客戶的要求的評估）： 依力成檢測結果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076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三、產能或加工能力評估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新產品的預計年產量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客戶需求產能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工廠加工產能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3637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四、計劃使用物料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超音波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BL37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zh-TW" altLang="en-US" sz="1000" u="none" strike="noStrike" dirty="0">
                          <a:effectLst/>
                        </a:rPr>
                        <a:t>、終端清洗機</a:t>
                      </a:r>
                      <a:r>
                        <a:rPr lang="en-US" altLang="zh-TW" sz="1000" u="none" strike="noStrike" dirty="0">
                          <a:effectLst/>
                        </a:rPr>
                        <a:t>BL900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6598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五、計劃加工作業流程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超音波清洗機、終端清洗機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73073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六、新產品關鍵技術問題：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 </a:t>
                      </a:r>
                      <a:r>
                        <a:rPr lang="zh-TW" altLang="en-US" sz="1000" u="none" strike="noStrike" dirty="0">
                          <a:effectLst/>
                        </a:rPr>
                        <a:t>超音波清洗除膠的乾淨度。以初期送樣測試之參數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07989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七、加工流程分析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7880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項次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作業內容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作業要點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0760"/>
                  </a:ext>
                </a:extLst>
              </a:tr>
              <a:tr h="314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1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TW" sz="1000" u="none" strike="noStrike" dirty="0">
                          <a:effectLst/>
                        </a:rPr>
                        <a:t>OCR-</a:t>
                      </a:r>
                      <a:r>
                        <a:rPr lang="zh-TW" altLang="en-US" sz="1000" u="none" strike="noStrike" dirty="0">
                          <a:effectLst/>
                        </a:rPr>
                        <a:t>光學字元刪選機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N/A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9846"/>
                  </a:ext>
                </a:extLst>
              </a:tr>
              <a:tr h="384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2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■藥水濃度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■藥水濃度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>
                          <a:effectLst/>
                        </a:rPr>
                        <a:t>100%</a:t>
                      </a:r>
                      <a:endParaRPr lang="zh-TW" altLang="en-US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1343294112"/>
                  </a:ext>
                </a:extLst>
              </a:tr>
              <a:tr h="384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.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TW" sz="1000" u="none" strike="noStrike" dirty="0">
                          <a:effectLst/>
                        </a:rPr>
                        <a:t>RO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3903012203"/>
                  </a:ext>
                </a:extLst>
              </a:tr>
              <a:tr h="384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3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0.9M/MIN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75046"/>
                  </a:ext>
                </a:extLst>
              </a:tr>
              <a:tr h="195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4</a:t>
                      </a:r>
                      <a:r>
                        <a:rPr lang="zh-TW" altLang="en-US" sz="1000" u="none" strike="noStrike">
                          <a:effectLst/>
                        </a:rPr>
                        <a:t>、 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AOI</a:t>
                      </a:r>
                      <a:r>
                        <a:rPr lang="zh-TW" altLang="en-US" sz="1000" u="none" strike="noStrike" dirty="0">
                          <a:effectLst/>
                        </a:rPr>
                        <a:t>自動光學檢測機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67715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TTV&amp;THICKNESS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5891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6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目視檢驗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品質標準如下：無破損，表面無汙染物。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06736"/>
                  </a:ext>
                </a:extLst>
              </a:tr>
              <a:tr h="163624">
                <a:tc rowSpan="2"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八、治具需求分析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■使用現有治具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□需重新開發治具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9765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預估治具數量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1PCS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2082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九、包裝要求：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■依據客戶標準包裝□依據公司標準包裝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2074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評估結論：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●可行                  ○修改後可行                   ○不可行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9548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核准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審核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製作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0925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1893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編號：</a:t>
                      </a:r>
                      <a:r>
                        <a:rPr lang="en" sz="1000" u="none" strike="noStrike" dirty="0">
                          <a:effectLst/>
                        </a:rPr>
                        <a:t>MP09-01(0</a:t>
                      </a:r>
                      <a:r>
                        <a:rPr lang="en-US" altLang="zh-TW" sz="1000" u="none" strike="noStrike" dirty="0">
                          <a:effectLst/>
                        </a:rPr>
                        <a:t>12</a:t>
                      </a:r>
                      <a:r>
                        <a:rPr lang="en" sz="1000" u="none" strike="noStrike" dirty="0">
                          <a:effectLst/>
                        </a:rPr>
                        <a:t>)A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版本：</a:t>
                      </a:r>
                      <a:r>
                        <a:rPr lang="en-US" altLang="zh-TW" sz="1000" u="none" strike="noStrike">
                          <a:effectLst/>
                        </a:rPr>
                        <a:t>1.0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日期：</a:t>
                      </a:r>
                      <a:r>
                        <a:rPr lang="en-US" altLang="zh-TW" sz="1000" u="none" strike="noStrike" dirty="0">
                          <a:effectLst/>
                        </a:rPr>
                        <a:t>2025/12/11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57900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9196E92-2294-9EB1-70FD-7D3FCB4C5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39805"/>
              </p:ext>
            </p:extLst>
          </p:nvPr>
        </p:nvGraphicFramePr>
        <p:xfrm>
          <a:off x="6610121" y="551323"/>
          <a:ext cx="5133863" cy="5739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09">
                  <a:extLst>
                    <a:ext uri="{9D8B030D-6E8A-4147-A177-3AD203B41FA5}">
                      <a16:colId xmlns:a16="http://schemas.microsoft.com/office/drawing/2014/main" val="153589701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00325139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16539747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202775605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922791501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93291326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3687358072"/>
                    </a:ext>
                  </a:extLst>
                </a:gridCol>
              </a:tblGrid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潔沛企業有限公司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269034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藥水測試紀錄表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56595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產品名稱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吋玻璃基板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客戶名稱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力成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08772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規格敘述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</a:t>
                      </a:r>
                      <a:r>
                        <a:rPr lang="en-US" altLang="zh-TW" sz="1200" u="none" strike="noStrike" dirty="0">
                          <a:effectLst/>
                        </a:rPr>
                        <a:t>/700</a:t>
                      </a:r>
                      <a:r>
                        <a:rPr lang="en" sz="1200" u="none" strike="noStrike">
                          <a:effectLst/>
                        </a:rPr>
                        <a:t>um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測試日期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2025</a:t>
                      </a:r>
                      <a:r>
                        <a:rPr lang="zh-TW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月</a:t>
                      </a:r>
                      <a:r>
                        <a:rPr lang="en-US" altLang="zh-TW" sz="1200" u="none" strike="noStrike" dirty="0">
                          <a:effectLst/>
                        </a:rPr>
                        <a:t>11</a:t>
                      </a:r>
                      <a:r>
                        <a:rPr lang="zh-TW" altLang="en-US" sz="1200" u="none" strike="noStrike" dirty="0">
                          <a:effectLst/>
                        </a:rPr>
                        <a:t>日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9444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測試過程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009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</a:t>
                      </a:r>
                      <a:r>
                        <a:rPr lang="en-US" altLang="zh-TW" sz="1200" u="none" strike="noStrike" dirty="0">
                          <a:effectLst/>
                        </a:rPr>
                        <a:t>1: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17465"/>
                  </a:ext>
                </a:extLst>
              </a:tr>
              <a:tr h="8290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超音波條件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BL-3729</a:t>
                      </a:r>
                      <a:r>
                        <a:rPr lang="zh-TW" altLang="en-US" sz="1200" u="none" strike="noStrike" dirty="0">
                          <a:effectLst/>
                        </a:rPr>
                        <a:t>藥水濃度</a:t>
                      </a:r>
                      <a:r>
                        <a:rPr lang="en-US" altLang="zh-TW" sz="1200" u="none" strike="noStrike" dirty="0">
                          <a:effectLst/>
                        </a:rPr>
                        <a:t>:100%</a:t>
                      </a:r>
                      <a:r>
                        <a:rPr lang="zh-TW" altLang="en-US" sz="1200" u="none" strike="noStrike" dirty="0">
                          <a:effectLst/>
                        </a:rPr>
                        <a:t>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:75°</a:t>
                      </a:r>
                      <a:r>
                        <a:rPr lang="en" sz="1200" u="none" strike="noStrike" dirty="0">
                          <a:effectLst/>
                        </a:rPr>
                        <a:t>C、</a:t>
                      </a:r>
                      <a:r>
                        <a:rPr lang="zh-TW" altLang="en-US" sz="1200" u="none" strike="noStrike" dirty="0">
                          <a:effectLst/>
                        </a:rPr>
                        <a:t>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:20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 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室溫、純浸泡時間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:10</a:t>
                      </a:r>
                      <a:r>
                        <a:rPr lang="en" sz="1200" u="none" strike="noStrike" dirty="0">
                          <a:effectLst/>
                        </a:rPr>
                        <a:t>min、</a:t>
                      </a:r>
                      <a:r>
                        <a:rPr lang="zh-TW" altLang="en-US" sz="1200" u="none" strike="noStrike" dirty="0">
                          <a:effectLst/>
                        </a:rPr>
                        <a:t>擺盪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分鐘。</a:t>
                      </a:r>
                      <a:br>
                        <a:rPr lang="zh-TW" altLang="en-US" sz="1200" u="none" strike="noStrike" dirty="0">
                          <a:effectLst/>
                        </a:rPr>
                      </a:b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062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終端清洗機條件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effectLst/>
                        </a:rPr>
                        <a:t>BL-900</a:t>
                      </a:r>
                      <a:r>
                        <a:rPr lang="zh-TW" altLang="en-US" sz="1200" u="none" strike="noStrike" dirty="0">
                          <a:effectLst/>
                        </a:rPr>
                        <a:t>清洗劑、溫度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常溫、速度</a:t>
                      </a:r>
                      <a:r>
                        <a:rPr lang="en-US" altLang="zh-TW" sz="1200" u="none" strike="noStrike" dirty="0">
                          <a:effectLst/>
                        </a:rPr>
                        <a:t>:0.9</a:t>
                      </a:r>
                      <a:r>
                        <a:rPr lang="en" sz="1200" u="none" strike="noStrike" dirty="0">
                          <a:effectLst/>
                        </a:rPr>
                        <a:t>M/MIN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2164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使用治具</a:t>
                      </a:r>
                      <a:r>
                        <a:rPr lang="en-US" altLang="zh-TW" sz="1200" u="none" strike="noStrike" dirty="0">
                          <a:effectLst/>
                        </a:rPr>
                        <a:t>:12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吋洗淨藍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0446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2899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清洗後樣品外觀無腐蝕現象，目視檢驗無污染。</a:t>
                      </a:r>
                      <a:br>
                        <a:rPr lang="en-US" altLang="zh-TW" sz="1200" u="none" strike="noStrike" dirty="0">
                          <a:effectLst/>
                        </a:rPr>
                      </a:b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檢測厚度、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TTV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AOI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，以供廠商評估，待後續提供結果報告。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783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zh-TW" altLang="en-US" sz="1200" u="none" strike="noStrike" dirty="0">
                          <a:effectLst/>
                        </a:rPr>
                      </a:b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142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5035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8209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7174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02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18132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合格 ■                                     不合格   □              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9379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核准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審核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製作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2197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11671"/>
                  </a:ext>
                </a:extLst>
              </a:tr>
              <a:tr h="41454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編號：</a:t>
                      </a:r>
                      <a:r>
                        <a:rPr lang="en" sz="1200" u="none" strike="noStrike" dirty="0">
                          <a:effectLst/>
                        </a:rPr>
                        <a:t>MP09-02(0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en" sz="1200" u="none" strike="noStrike" dirty="0">
                          <a:effectLst/>
                        </a:rPr>
                        <a:t>)A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63544"/>
                  </a:ext>
                </a:extLst>
              </a:tr>
            </a:tbl>
          </a:graphicData>
        </a:graphic>
      </p:graphicFrame>
      <p:pic>
        <p:nvPicPr>
          <p:cNvPr id="16" name="Check Box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CA9BA73D-3F28-403C-FF5A-6389977E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567" y="7480555"/>
            <a:ext cx="225033" cy="127310"/>
          </a:xfrm>
          <a:prstGeom prst="rect">
            <a:avLst/>
          </a:prstGeom>
        </p:spPr>
      </p:pic>
      <p:pic>
        <p:nvPicPr>
          <p:cNvPr id="17" name="Check Box 2">
            <a:extLst>
              <a:ext uri="{63B3BB69-23CF-44E3-9099-C40C66FF867C}">
                <a14:compatExt xmlns:a14="http://schemas.microsoft.com/office/drawing/2010/main" spid="_x0000_s1026"/>
              </a:ext>
              <a:ext uri="{FF2B5EF4-FFF2-40B4-BE49-F238E27FC236}">
                <a16:creationId xmlns:a16="http://schemas.microsoft.com/office/drawing/2014/main" id="{EEA76A5B-6620-69E4-A9B1-A03EFF0E6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67" y="7467855"/>
            <a:ext cx="225033" cy="12731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301CEAD4-C4BB-AB60-B0ED-AB15026BB8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467" y="2311731"/>
            <a:ext cx="225033" cy="1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E7E2143B-CBA9-6837-6D92-9CAEE75884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6293" y="2311655"/>
            <a:ext cx="238270" cy="12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31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A4E6-E689-2B1E-F06B-8A3B9900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6DAC97-2FFA-7FF8-6942-B3F73B952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509393"/>
              </p:ext>
            </p:extLst>
          </p:nvPr>
        </p:nvGraphicFramePr>
        <p:xfrm>
          <a:off x="103516" y="820113"/>
          <a:ext cx="11982090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PT2452-0023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PT2515-0053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PT2515-0085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PT2515-0094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:44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:64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:71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AF32C6A6-EFB1-2283-2FCB-B82AF7F4E414}"/>
              </a:ext>
            </a:extLst>
          </p:cNvPr>
          <p:cNvSpPr txBox="1"/>
          <p:nvPr/>
        </p:nvSpPr>
        <p:spPr>
          <a:xfrm>
            <a:off x="253496" y="233881"/>
            <a:ext cx="10356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A1B2A7-DE92-F9EF-2332-B8823B9FE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6" y="1492301"/>
            <a:ext cx="1936699" cy="193669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2B7117A-D427-F4DB-FE6E-212A76AA9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655" y="1492301"/>
            <a:ext cx="1936699" cy="193669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5DA59A5-6AA2-310C-4851-75BB06EE5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314" y="1492300"/>
            <a:ext cx="1936699" cy="19366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5DAEA1-95B3-8412-35E8-A609E07F59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21" y="1492300"/>
            <a:ext cx="1936699" cy="19366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958957-7290-EDB0-4E7E-A4306F94D4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840" y="1492300"/>
            <a:ext cx="1936699" cy="193669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698B4E-C2EC-B209-CA3E-C1898F5E22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09" y="1497379"/>
            <a:ext cx="1936699" cy="193669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6F3C104-C290-E0B7-EB34-B2FE3F5541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6" y="4478629"/>
            <a:ext cx="1936699" cy="193669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7EF018-1F8A-1224-4E8E-0B53D5B502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654" y="4478629"/>
            <a:ext cx="1936699" cy="193669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93AB8D0-33B0-0B32-994C-090BA766AC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519" y="4478629"/>
            <a:ext cx="1936698" cy="19366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FF4F14A-57E9-13F0-42F9-9960287A2C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21" y="4478629"/>
            <a:ext cx="1936698" cy="193669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E571BB5-4842-C094-9EA1-E4E4A8FEE1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194" y="4478629"/>
            <a:ext cx="1936698" cy="193669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C3CB057-2E22-DAAA-02FC-72D47863CC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967" y="4481170"/>
            <a:ext cx="1934157" cy="193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6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A03B-2EAE-D6DA-DB3E-9C77ED95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BA32F24-D71B-5C82-F323-EF84D2AE4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00224"/>
              </p:ext>
            </p:extLst>
          </p:nvPr>
        </p:nvGraphicFramePr>
        <p:xfrm>
          <a:off x="103516" y="820113"/>
          <a:ext cx="12027524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2042449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PT2501-0048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PT2452-0126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PT2516-0145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PT2516-0076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PT2515-0031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PT2452-0388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PT2516-0177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0CCC11C-0920-281E-BB29-5D2693FEB62E}"/>
              </a:ext>
            </a:extLst>
          </p:cNvPr>
          <p:cNvSpPr txBox="1"/>
          <p:nvPr/>
        </p:nvSpPr>
        <p:spPr>
          <a:xfrm>
            <a:off x="253496" y="233881"/>
            <a:ext cx="1020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A5B6B8-0536-8BD4-9075-35CA3041B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6" y="1478279"/>
            <a:ext cx="1950721" cy="195072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84ADC3E-CCA3-53BB-4F78-AFAFCD9FC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79" y="1478279"/>
            <a:ext cx="1950721" cy="195072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FD3A695-DE10-9DF9-1DD9-268352254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512" y="1482749"/>
            <a:ext cx="1950721" cy="19507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9BF10AA-5657-22A7-BE84-DCD29CC1A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95" y="1478279"/>
            <a:ext cx="1950721" cy="195072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CCF4D8C-765D-509D-9987-52C703636A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356" y="1478279"/>
            <a:ext cx="1950721" cy="195072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E81860-D2D8-6FA1-95B3-4BF91469F5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340" y="1478278"/>
            <a:ext cx="1950721" cy="195072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6E73548-C5F5-D535-48DB-CD5B1FDDD6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5" y="4476697"/>
            <a:ext cx="1950721" cy="19507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8F5C060-8FF4-6E6D-FBD4-058CFE17EB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79" y="4476697"/>
            <a:ext cx="1950721" cy="195072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5E3550F-9DA5-8E53-1B1E-03A9297405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962" y="4476696"/>
            <a:ext cx="1950721" cy="195072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D87E526-1B01-8743-231E-94A5281B83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159" y="4479228"/>
            <a:ext cx="1923397" cy="192339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9704080-401C-8FAA-36B9-704A475A40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72" y="4486856"/>
            <a:ext cx="1923397" cy="192339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9388554-9F8E-5FE2-E854-EF446AC31C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877" y="4493860"/>
            <a:ext cx="1923397" cy="192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0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45DD-D42A-4054-9AFC-D495784B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0D467EA-9095-A6DA-1A51-C75A89C87E6D}"/>
              </a:ext>
            </a:extLst>
          </p:cNvPr>
          <p:cNvGraphicFramePr>
            <a:graphicFrameLocks noGrp="1"/>
          </p:cNvGraphicFramePr>
          <p:nvPr/>
        </p:nvGraphicFramePr>
        <p:xfrm>
          <a:off x="104955" y="738833"/>
          <a:ext cx="11982090" cy="603795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14155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4035924A-DA0C-4F94-38CB-47A2B5B47E13}"/>
              </a:ext>
            </a:extLst>
          </p:cNvPr>
          <p:cNvSpPr txBox="1"/>
          <p:nvPr/>
        </p:nvSpPr>
        <p:spPr>
          <a:xfrm>
            <a:off x="253496" y="158465"/>
            <a:ext cx="10021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166FDF3-59CB-3D15-FAAE-24E32F395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35" y="1422399"/>
            <a:ext cx="1930401" cy="193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8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A03B-2EAE-D6DA-DB3E-9C77ED95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BA32F24-D71B-5C82-F323-EF84D2AE4BA6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2027524" cy="59795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002959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1071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2042449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PT2452-0023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PT2452-0018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PT2516-0084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PT2515-0053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PT2515-0085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PT2515-0094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:44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:64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:71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0CCC11C-0920-281E-BB29-5D2693FEB62E}"/>
              </a:ext>
            </a:extLst>
          </p:cNvPr>
          <p:cNvSpPr txBox="1"/>
          <p:nvPr/>
        </p:nvSpPr>
        <p:spPr>
          <a:xfrm>
            <a:off x="253496" y="233881"/>
            <a:ext cx="1017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A13DB58-4332-CF6D-7E3A-8CB7BF9B6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35" y="1737360"/>
            <a:ext cx="1839137" cy="12395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9E2145A-419C-2EBC-7F9D-2A84D7BE6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70" y="1737360"/>
            <a:ext cx="1839137" cy="123952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7C833B-D71F-61AF-3B4B-1DFB3E898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65" y="1737360"/>
            <a:ext cx="1839137" cy="123952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F9D2708-80F3-2BDF-4843-9E64AB2B8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438" y="1737360"/>
            <a:ext cx="1921119" cy="123952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BC612D8-E56E-7FB4-145F-5196A23CFC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93" y="1737360"/>
            <a:ext cx="1839981" cy="123952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B43A3A33-466A-776C-F38E-CF35E1EA2A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250" y="1737360"/>
            <a:ext cx="1991396" cy="123952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2D32902-E072-97B6-40D0-620770941C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6" y="4798367"/>
            <a:ext cx="1912256" cy="123952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23F7952D-BD82-77B8-70BB-7C4849531C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978" y="4798368"/>
            <a:ext cx="1921119" cy="1239519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AE86ED0-7C61-6BD5-2EFD-F1EDBE74F0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986" y="4798368"/>
            <a:ext cx="1912256" cy="123952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8CC191C-27E1-52E7-9F33-D63CBA220C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798367"/>
            <a:ext cx="1948168" cy="123951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4D33CEE-119D-35EC-F605-FCC5AB7EAD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004" y="4798366"/>
            <a:ext cx="1974367" cy="123952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58A146D-14AC-C4CF-9533-0E89D04B6F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29" y="4798366"/>
            <a:ext cx="1927996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7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2D5B-668B-E482-BB72-414ACC29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40B9C4-A128-5F6E-FB2B-35AAA25342E4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PT2501-0048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PT2452-0126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PT2516-0145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PT2516-0076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PT2515-0031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PT2452-0388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PT2516-0177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9D508EDA-AFBC-0DD2-3DEB-35C1D322FB98}"/>
              </a:ext>
            </a:extLst>
          </p:cNvPr>
          <p:cNvSpPr txBox="1"/>
          <p:nvPr/>
        </p:nvSpPr>
        <p:spPr>
          <a:xfrm>
            <a:off x="253496" y="233881"/>
            <a:ext cx="9876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5CF8299-6B59-D22F-2F76-9B6289863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6" y="1798320"/>
            <a:ext cx="1921120" cy="13004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1818412-E724-FB4A-76F4-F4673015D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56" y="1798321"/>
            <a:ext cx="1921120" cy="130048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BFA6942-B0AE-8FB1-2661-4ADADD5B4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152" y="1798320"/>
            <a:ext cx="1948137" cy="130048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140DC2F-30BA-B13D-5A46-7C5CA95C74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353" y="1798320"/>
            <a:ext cx="1874207" cy="130048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CCB8798-561B-2B40-3A90-6405EF0AE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485" y="1798319"/>
            <a:ext cx="1880451" cy="130048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2917A05-6BFB-1A65-0A7B-668FA4A957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565" y="1798319"/>
            <a:ext cx="1913540" cy="130048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429C746-DBB9-2C65-1014-B54EE54391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6" y="4724400"/>
            <a:ext cx="1921120" cy="131348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AF6756F-3F24-1368-C185-417DFC40F0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87" y="4724400"/>
            <a:ext cx="1948137" cy="130048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3ED12DF-0754-0747-515F-82331123F6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635" y="4724400"/>
            <a:ext cx="1941654" cy="131348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54A8470E-290A-50CC-EDF4-980DF972A3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703" y="4724399"/>
            <a:ext cx="1874207" cy="130047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6EBED668-444E-629F-3851-FDCF5FE8A5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485" y="4724399"/>
            <a:ext cx="1874207" cy="130047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D37E6132-7313-A5D2-4F2A-BD890848C7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565" y="4724398"/>
            <a:ext cx="1913540" cy="130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1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5230-ACDA-F129-77CB-130ED425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EAAF89-D0E3-0E40-BF2B-9EDFDB68E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199012"/>
              </p:ext>
            </p:extLst>
          </p:nvPr>
        </p:nvGraphicFramePr>
        <p:xfrm>
          <a:off x="104955" y="818655"/>
          <a:ext cx="1997015" cy="596735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</a:tblGrid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113244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25308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283A5B79-B1B5-B196-CD55-31AF78B17AE6}"/>
              </a:ext>
            </a:extLst>
          </p:cNvPr>
          <p:cNvSpPr txBox="1"/>
          <p:nvPr/>
        </p:nvSpPr>
        <p:spPr>
          <a:xfrm>
            <a:off x="253496" y="233881"/>
            <a:ext cx="10988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3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_C002_25Pcs_AOI&amp;TTV</a:t>
            </a:r>
            <a:r>
              <a:rPr lang="zh-TW" altLang="en-US" sz="3200" dirty="0"/>
              <a:t>檢驗數據圖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16BF878-5DD0-2838-6C14-CA48BA4B151C}"/>
              </a:ext>
            </a:extLst>
          </p:cNvPr>
          <p:cNvGraphicFramePr>
            <a:graphicFrameLocks noGrp="1"/>
          </p:cNvGraphicFramePr>
          <p:nvPr/>
        </p:nvGraphicFramePr>
        <p:xfrm>
          <a:off x="2956766" y="836032"/>
          <a:ext cx="33847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384">
                  <a:extLst>
                    <a:ext uri="{9D8B030D-6E8A-4147-A177-3AD203B41FA5}">
                      <a16:colId xmlns:a16="http://schemas.microsoft.com/office/drawing/2014/main" val="4157463473"/>
                    </a:ext>
                  </a:extLst>
                </a:gridCol>
                <a:gridCol w="1692384">
                  <a:extLst>
                    <a:ext uri="{9D8B030D-6E8A-4147-A177-3AD203B41FA5}">
                      <a16:colId xmlns:a16="http://schemas.microsoft.com/office/drawing/2014/main" val="15433847"/>
                    </a:ext>
                  </a:extLst>
                </a:gridCol>
              </a:tblGrid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SS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&lt;20umm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043399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20~30um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58833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30~50um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16143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50~100um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57218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&gt;100um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982300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51EC9B25-E844-58FC-EDE0-FBAFB528E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09" y="1746786"/>
            <a:ext cx="1953409" cy="1307499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7AA8C02-B182-28CE-65CB-17C9A298B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78752"/>
              </p:ext>
            </p:extLst>
          </p:nvPr>
        </p:nvGraphicFramePr>
        <p:xfrm>
          <a:off x="6838427" y="818655"/>
          <a:ext cx="2984303" cy="5967352"/>
        </p:xfrm>
        <a:graphic>
          <a:graphicData uri="http://schemas.openxmlformats.org/drawingml/2006/table">
            <a:tbl>
              <a:tblPr/>
              <a:tblGrid>
                <a:gridCol w="1069642">
                  <a:extLst>
                    <a:ext uri="{9D8B030D-6E8A-4147-A177-3AD203B41FA5}">
                      <a16:colId xmlns:a16="http://schemas.microsoft.com/office/drawing/2014/main" val="1179792331"/>
                    </a:ext>
                  </a:extLst>
                </a:gridCol>
                <a:gridCol w="1155215">
                  <a:extLst>
                    <a:ext uri="{9D8B030D-6E8A-4147-A177-3AD203B41FA5}">
                      <a16:colId xmlns:a16="http://schemas.microsoft.com/office/drawing/2014/main" val="2774386437"/>
                    </a:ext>
                  </a:extLst>
                </a:gridCol>
                <a:gridCol w="759446">
                  <a:extLst>
                    <a:ext uri="{9D8B030D-6E8A-4147-A177-3AD203B41FA5}">
                      <a16:colId xmlns:a16="http://schemas.microsoft.com/office/drawing/2014/main" val="1864602186"/>
                    </a:ext>
                  </a:extLst>
                </a:gridCol>
              </a:tblGrid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Wafer ID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Thickness(um)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TTV(um)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7793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PT2452-0025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689.891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0.103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07082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PT2452-0023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689.576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0.432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139939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PT2452-0018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689.227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0.237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653469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PT2515-0046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688.722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0.125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42690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PT2516-0087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690.159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0.319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35297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PT2515-0003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691.332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0.225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113057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PT2516-0086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690.252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0.327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185899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PT2516-0084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690.54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0.299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02652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PT2515-0053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688.405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0.221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63575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PT2515-0085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686.364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0.262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55458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PT2515-0094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687.217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0.176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88467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PT2515-0087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686.876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0.236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68638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PT2515-0091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686.691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0.219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814489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PT2515-0095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687.072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0.208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902142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PT2516-0015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690.613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0.208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6808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PT2516-0045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687.136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71363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PT2501-0048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690.324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0.28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06138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PT2452-0126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690.786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0.117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823541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PT2515-0032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690.837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0.187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532265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PT2516-0145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690.001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0.282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90814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PT2516-0076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686.844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0.308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567735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PT2515-0031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689.929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0.269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32597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PT2452-0388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691.254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0.364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945950"/>
                  </a:ext>
                </a:extLst>
              </a:tr>
              <a:tr h="229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PT2516-0177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687.004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0.165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323470"/>
                  </a:ext>
                </a:extLst>
              </a:tr>
              <a:tr h="239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PT2516-0175</a:t>
                      </a:r>
                    </a:p>
                  </a:txBody>
                  <a:tcPr marL="7594" marR="7594" marT="7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686.517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0.131</a:t>
                      </a:r>
                    </a:p>
                  </a:txBody>
                  <a:tcPr marL="7594" marR="7594" marT="75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761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09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FCC99-D9D9-640E-3319-E9D1B60F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17" y="17593"/>
            <a:ext cx="10515600" cy="87921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清洗總結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058BD3-4476-F953-8449-19928285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1052627"/>
            <a:ext cx="10775623" cy="5348173"/>
          </a:xfrm>
        </p:spPr>
        <p:txBody>
          <a:bodyPr>
            <a:normAutofit fontScale="85000" lnSpcReduction="20000"/>
          </a:bodyPr>
          <a:lstStyle/>
          <a:p>
            <a:pPr marL="324000">
              <a:lnSpc>
                <a:spcPct val="120000"/>
              </a:lnSpc>
            </a:pPr>
            <a:r>
              <a:rPr lang="zh-TW" altLang="en-US" sz="2100" dirty="0"/>
              <a:t>由於上一次清洗使用超音波清洗方式，導致玻璃載板表面出現擊傷情況，本次清洗改採浸泡清洗方式進行評估，以避免對玻璃載板造成損傷。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本次清洗條件為浸泡時間 </a:t>
            </a:r>
            <a:r>
              <a:rPr lang="en-US" altLang="zh-TW" sz="2100" dirty="0"/>
              <a:t>20 </a:t>
            </a:r>
            <a:r>
              <a:rPr lang="zh-TW" altLang="en-US" sz="2100" dirty="0"/>
              <a:t>分鐘，並依不同載板數量分階段進行測試，結果如下：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第一次測試：</a:t>
            </a:r>
            <a:br>
              <a:rPr lang="zh-TW" altLang="en-US" sz="2100" dirty="0"/>
            </a:br>
            <a:r>
              <a:rPr lang="zh-TW" altLang="en-US" sz="2100" dirty="0"/>
              <a:t>浸泡 </a:t>
            </a:r>
            <a:r>
              <a:rPr lang="en-US" altLang="zh-TW" sz="2100" dirty="0"/>
              <a:t>20 </a:t>
            </a:r>
            <a:r>
              <a:rPr lang="zh-TW" altLang="en-US" sz="2100" dirty="0"/>
              <a:t>分鐘後，先以 </a:t>
            </a:r>
            <a:r>
              <a:rPr lang="en-US" altLang="zh-TW" sz="2100" dirty="0"/>
              <a:t>1 </a:t>
            </a:r>
            <a:r>
              <a:rPr lang="zh-TW" altLang="en-US" sz="2100" dirty="0"/>
              <a:t>片玻璃載板進行清洗測試，清洗後載板狀況正常，未發現異常。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第二次測試：</a:t>
            </a:r>
            <a:br>
              <a:rPr lang="zh-TW" altLang="en-US" sz="2100" dirty="0"/>
            </a:br>
            <a:r>
              <a:rPr lang="zh-TW" altLang="en-US" sz="2100" dirty="0"/>
              <a:t>再次浸泡 </a:t>
            </a:r>
            <a:r>
              <a:rPr lang="en-US" altLang="zh-TW" sz="2100" dirty="0"/>
              <a:t>20 </a:t>
            </a:r>
            <a:r>
              <a:rPr lang="zh-TW" altLang="en-US" sz="2100" dirty="0"/>
              <a:t>分鐘，改以 </a:t>
            </a:r>
            <a:r>
              <a:rPr lang="en-US" altLang="zh-TW" sz="2100" dirty="0"/>
              <a:t>5 </a:t>
            </a:r>
            <a:r>
              <a:rPr lang="zh-TW" altLang="en-US" sz="2100" dirty="0"/>
              <a:t>片玻璃載板進行清洗測試，清洗結果良好，載板表面乾淨度 </a:t>
            </a:r>
            <a:r>
              <a:rPr lang="en-US" altLang="zh-TW" sz="2100" dirty="0"/>
              <a:t>OK</a:t>
            </a:r>
            <a:r>
              <a:rPr lang="zh-TW" altLang="en-US" sz="2100" dirty="0"/>
              <a:t>。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第三次測試：</a:t>
            </a:r>
            <a:br>
              <a:rPr lang="zh-TW" altLang="en-US" sz="2100" dirty="0"/>
            </a:br>
            <a:r>
              <a:rPr lang="zh-TW" altLang="en-US" sz="2100" dirty="0"/>
              <a:t>進一步放量清洗數至 </a:t>
            </a:r>
            <a:r>
              <a:rPr lang="en-US" altLang="zh-TW" sz="2100" dirty="0"/>
              <a:t>19 </a:t>
            </a:r>
            <a:r>
              <a:rPr lang="zh-TW" altLang="en-US" sz="2100" dirty="0"/>
              <a:t>片玻璃載板進行浸泡清洗，清洗效果理想，載板表面乾淨度符合預期，且未觀察到任何損傷情形。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後續進行 </a:t>
            </a:r>
            <a:r>
              <a:rPr lang="en-US" altLang="zh-TW" sz="2100" dirty="0"/>
              <a:t>TTV </a:t>
            </a:r>
            <a:r>
              <a:rPr lang="zh-TW" altLang="en-US" sz="2100" dirty="0"/>
              <a:t>與 </a:t>
            </a:r>
            <a:r>
              <a:rPr lang="en-US" altLang="zh-TW" sz="2100" dirty="0"/>
              <a:t>AOI </a:t>
            </a:r>
            <a:r>
              <a:rPr lang="zh-TW" altLang="en-US" sz="2100" dirty="0"/>
              <a:t>檢測，檢測結果皆顯示數值與外觀狀況良好，符合相關規格要求，未發現異常。</a:t>
            </a:r>
          </a:p>
          <a:p>
            <a:pPr marL="324000">
              <a:lnSpc>
                <a:spcPct val="120000"/>
              </a:lnSpc>
            </a:pPr>
            <a:r>
              <a:rPr lang="zh-TW" altLang="en-US" sz="2100" dirty="0"/>
              <a:t>以上結果，浸泡清洗方式在不同載板數量下皆可達到良好的清洗效果，並能有效避免超音波清洗造成之擊傷問題，同時不影響 </a:t>
            </a:r>
            <a:r>
              <a:rPr lang="en-US" altLang="zh-TW" sz="2100" dirty="0"/>
              <a:t>TTV </a:t>
            </a:r>
            <a:r>
              <a:rPr lang="zh-TW" altLang="en-US" sz="2100" dirty="0"/>
              <a:t>與 </a:t>
            </a:r>
            <a:r>
              <a:rPr lang="en-US" altLang="zh-TW" sz="2100" dirty="0"/>
              <a:t>AOI </a:t>
            </a:r>
            <a:r>
              <a:rPr lang="zh-TW" altLang="en-US" sz="2100" dirty="0"/>
              <a:t>表現。</a:t>
            </a:r>
            <a:br>
              <a:rPr lang="en-US" altLang="zh-TW" sz="2100" dirty="0"/>
            </a:br>
            <a:br>
              <a:rPr lang="zh-TW" altLang="en-US" sz="2100" dirty="0"/>
            </a:br>
            <a:r>
              <a:rPr lang="zh-TW" altLang="en-US" sz="2100" dirty="0"/>
              <a:t>玻璃載板送回後待廠商評估整體可行性與適用性。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106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1752</TotalTime>
  <Words>2441</Words>
  <Application>Microsoft Office PowerPoint</Application>
  <PresentationFormat>寬螢幕</PresentationFormat>
  <Paragraphs>608</Paragraphs>
  <Slides>12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Office 佈景主題</vt:lpstr>
      <vt:lpstr>力成測試過程與清洗參數確認</vt:lpstr>
      <vt:lpstr>目的與品質標準</vt:lpstr>
      <vt:lpstr>Chemical Qual  1  測試紀錄 </vt:lpstr>
      <vt:lpstr>Chemical Qual  2  測試紀錄 </vt:lpstr>
      <vt:lpstr>Chemical Qual  3  測試紀錄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清洗總結: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哲驊 劉</dc:creator>
  <cp:lastModifiedBy>佑翰 林</cp:lastModifiedBy>
  <cp:revision>23</cp:revision>
  <dcterms:created xsi:type="dcterms:W3CDTF">2025-11-17T04:25:26Z</dcterms:created>
  <dcterms:modified xsi:type="dcterms:W3CDTF">2025-12-17T08:50:45Z</dcterms:modified>
</cp:coreProperties>
</file>