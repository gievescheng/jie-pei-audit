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58" r:id="rId4"/>
    <p:sldId id="278" r:id="rId5"/>
    <p:sldId id="270" r:id="rId6"/>
    <p:sldId id="265" r:id="rId7"/>
    <p:sldId id="279" r:id="rId8"/>
    <p:sldId id="267" r:id="rId9"/>
    <p:sldId id="280" r:id="rId10"/>
    <p:sldId id="269" r:id="rId11"/>
    <p:sldId id="281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佑翰 林" initials="佑林" lastIdx="2" clrIdx="0">
    <p:extLst>
      <p:ext uri="{19B8F6BF-5375-455C-9EA6-DF929625EA0E}">
        <p15:presenceInfo xmlns:p15="http://schemas.microsoft.com/office/powerpoint/2012/main" userId="9b1289051fa12d0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76"/>
  </p:normalViewPr>
  <p:slideViewPr>
    <p:cSldViewPr snapToGrid="0">
      <p:cViewPr varScale="1">
        <p:scale>
          <a:sx n="114" d="100"/>
          <a:sy n="114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89FB4-BB76-7D45-B078-BBF50EF7FF13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60551-944A-1640-B179-2275B07C30C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4173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8462D-B74C-EE22-A065-CBB1CAE69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A5C3BFF-C092-9E06-B1F3-46C36320B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49F3908-5770-C1E1-7E7E-D19F4E836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0C3C2-18E4-566F-4735-D1E84342C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9885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4D61-F0C5-1701-4A6B-CDC21427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6D01C3B-6B72-4577-423E-22D47A831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CC28A62-E810-788D-32CB-FB6ACDD91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B357E4-6332-534B-EBAB-029407DDE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216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A7032-E9D7-2A29-F7F0-9E6EDC60C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E14810-D04C-BFF3-FB9A-4D4060662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63AF28B-C0FB-1429-4771-C2962211F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F9FD5F-8B0E-7328-608E-10EC4133D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0745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9AEF-4803-D3B6-5BFD-FDB224D9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BC3D94-5D6A-DEF3-E521-3B5BE54A4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27EFF91-1E1F-2FF4-B7BC-42C08A9A1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A0EE40-9BFC-4F49-43DE-2F786834A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8015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CCE70-A7DA-0167-36B4-8C10B327B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7103F1-0210-93FE-F129-6F9335AEA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F75C68-66BE-8C5E-D4DA-54E33985E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CBB45F-6ED5-C4A3-693F-72B4B4F69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18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2956A-C187-56E1-4F56-CAB338FB5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1C548D7-7366-99E7-BE91-11991A271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257EFF6-DD71-6F75-9B59-1A7CA4A2B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8D9630-6D0F-8D13-FB02-C5C7EB305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81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1A8D2-CBF3-0BCB-7078-CD72937D5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8F063B-9B07-43B4-B12E-1EBEFDBC2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626B49-3127-7FA7-829D-B0ECE6BF8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0B9CC1-B07E-FA84-4EC1-EFFC767E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3C79E1-695E-7388-9721-90AE910DF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3879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B52EA8-B527-D3E5-DE09-D49A0BBC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0585BE-BD61-7DCF-CD04-ACA55C080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0E0475-FBE7-BF2A-4E19-7EB44512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932F74-10E6-3EFB-FE49-CDC47FAD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E6073B-9F08-669A-42B6-8A80EAC8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248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237A21-98EE-D877-E746-FEC218C8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A80F58-201C-2442-F649-520EE00D0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727679-8B2B-E64D-C7BC-E1DBEBB9E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0577E0-8690-97D6-57ED-4CD1E8E3E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6F18B7-2B1B-4E08-55BC-DF90974A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787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D95A02-6175-707A-A20A-2B514E06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B6F0FB-68E9-7D6A-0D5C-F84405152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A964E9-FCD7-5A7B-B038-35E550EAE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1CD8D48-CF3C-60D3-3FB9-8FBE9322C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126AC79-C85F-BC75-7044-BED026C6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C22C03-E3C4-AC1F-B231-CFD3F8F3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4768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6535D-6585-2079-993D-A0D9CB6F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AF1ACD-43E4-0AEF-C08A-2369E3726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E870D43-8008-9FA7-DB25-C40576C12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168888-CF4E-4C3C-CE75-7F6272C17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055FFF1-2797-C546-5FAB-63F567A8F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76D5C41-5287-47F6-438D-0CA48CB2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0867E5C-CA7E-39F7-73C2-D4F8BDC0A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111465C-08D4-8AB2-994C-D7824903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30544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22D93E-5520-616C-F80B-DCDC4685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5CB266-5404-EE81-8647-B1E2CD55C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24470F3-BD4E-75F4-5F8C-EFBBC80B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1501D81-A852-2CC1-87F5-94F7D4C5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432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87325E2-FFF5-21EE-BC2C-CD2601921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FB2D82C-2B43-6E00-E797-6FDE74C5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8C6D2C-1075-785D-378F-90E82DBC1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9031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3C2A93-A539-03E2-1082-9D1A3AAB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A6AF3E-8B4F-AF59-A76E-5A4882BE6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885EA86-712F-ED2A-A627-BA15699A5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2C3E46-1C6F-E463-878E-D02F3BA2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3F9170-C268-0B6C-1D11-8B45176FE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CC8E4D-4EA4-1CCE-7C33-67487729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808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B6384E-0476-39D0-3760-6D2499134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1AA1758-953B-A6E4-B1D7-54E69059E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0BF4DB-2C3B-A6BE-58CD-87BE22083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233E34-4EE1-3AE6-CBC6-26B341CD0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1F2BF95-0450-DD7A-8B3A-F5E7DC5C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7F981F-99A0-0B8D-C9F3-8008107E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43198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B9CAE3-A1CB-50A9-AA5B-502FAE65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6BBFF0-AFFF-47D9-4942-4C02F7A6B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1444F0-6BAD-71ED-31F8-D63E590D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5732BF-2412-22D1-FA6B-71216E125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C9B1E3-1487-13D0-DAE5-B76E14B7E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5406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A3D1494-7DC2-25DC-A32A-EB5FF68C3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C2BF4B5-EE5B-A0DF-EB19-2E7BB9115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E7FD10-D4BA-1C5C-21F9-FBA6F368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0F1EA7-AC6B-C1D4-32F4-D1211A1C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FACA35-BD16-1D3F-A628-6A887A58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14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E7DFAD1-CEDB-C70E-BF95-4C5F4BE81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985049-24EF-889D-7EC7-58348919F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D7091C-B42E-5474-BCFB-617B2A8FF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0E160-BF3B-A343-A2EF-7C0EFDD5A978}" type="datetimeFigureOut">
              <a:rPr kumimoji="1" lang="zh-TW" altLang="en-US" smtClean="0"/>
              <a:t>2025/12/5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93A486-C1B3-A704-4E59-3711D1CA5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ED88E0-E046-F8D7-2AF6-6BE4EDDDA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558FB-A3A2-A24D-A19F-D703EB7B21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296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37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12" Type="http://schemas.openxmlformats.org/officeDocument/2006/relationships/image" Target="../media/image3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eg"/><Relationship Id="rId11" Type="http://schemas.openxmlformats.org/officeDocument/2006/relationships/image" Target="../media/image35.jpeg"/><Relationship Id="rId5" Type="http://schemas.openxmlformats.org/officeDocument/2006/relationships/image" Target="../media/image29.jpeg"/><Relationship Id="rId10" Type="http://schemas.openxmlformats.org/officeDocument/2006/relationships/image" Target="../media/image34.jpeg"/><Relationship Id="rId4" Type="http://schemas.openxmlformats.org/officeDocument/2006/relationships/image" Target="../media/image28.jpeg"/><Relationship Id="rId9" Type="http://schemas.openxmlformats.org/officeDocument/2006/relationships/image" Target="../media/image3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13" Type="http://schemas.openxmlformats.org/officeDocument/2006/relationships/image" Target="../media/image48.jpeg"/><Relationship Id="rId3" Type="http://schemas.openxmlformats.org/officeDocument/2006/relationships/image" Target="../media/image38.jpeg"/><Relationship Id="rId7" Type="http://schemas.openxmlformats.org/officeDocument/2006/relationships/image" Target="../media/image42.jpeg"/><Relationship Id="rId12" Type="http://schemas.openxmlformats.org/officeDocument/2006/relationships/image" Target="../media/image4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eg"/><Relationship Id="rId11" Type="http://schemas.openxmlformats.org/officeDocument/2006/relationships/image" Target="../media/image46.jpeg"/><Relationship Id="rId5" Type="http://schemas.openxmlformats.org/officeDocument/2006/relationships/image" Target="../media/image40.jpeg"/><Relationship Id="rId10" Type="http://schemas.openxmlformats.org/officeDocument/2006/relationships/image" Target="../media/image45.jpeg"/><Relationship Id="rId4" Type="http://schemas.openxmlformats.org/officeDocument/2006/relationships/image" Target="../media/image39.jpeg"/><Relationship Id="rId9" Type="http://schemas.openxmlformats.org/officeDocument/2006/relationships/image" Target="../media/image44.jpeg"/><Relationship Id="rId14" Type="http://schemas.openxmlformats.org/officeDocument/2006/relationships/image" Target="../media/image4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B13FF8-E20E-3C61-EA66-3871584A3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2800" dirty="0"/>
              <a:t>力成測試過程與清洗參數確認</a:t>
            </a:r>
          </a:p>
        </p:txBody>
      </p:sp>
    </p:spTree>
    <p:extLst>
      <p:ext uri="{BB962C8B-B14F-4D97-AF65-F5344CB8AC3E}">
        <p14:creationId xmlns:p14="http://schemas.microsoft.com/office/powerpoint/2010/main" val="136751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9DE1E-6086-1CD8-18F6-1DF19BC3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140" y="1543475"/>
            <a:ext cx="2845718" cy="777875"/>
          </a:xfrm>
        </p:spPr>
        <p:txBody>
          <a:bodyPr>
            <a:normAutofit fontScale="90000"/>
          </a:bodyPr>
          <a:lstStyle/>
          <a:p>
            <a:r>
              <a:rPr kumimoji="1" lang="zh-TW" altLang="en-US" sz="3200" dirty="0"/>
              <a:t>目的與品質標準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4667A42-21ED-0704-37F1-671D0831B8AE}"/>
              </a:ext>
            </a:extLst>
          </p:cNvPr>
          <p:cNvSpPr txBox="1"/>
          <p:nvPr/>
        </p:nvSpPr>
        <p:spPr>
          <a:xfrm>
            <a:off x="3726199" y="2741281"/>
            <a:ext cx="4739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依照化學洗淨的架構，先驗證清洗流程。</a:t>
            </a:r>
            <a:r>
              <a:rPr kumimoji="1" lang="en-US" altLang="zh-TW" sz="2400" dirty="0"/>
              <a:t>AOI</a:t>
            </a:r>
            <a:r>
              <a:rPr kumimoji="1" lang="zh-TW" altLang="en-US" sz="2400" dirty="0"/>
              <a:t>、厚度、</a:t>
            </a:r>
            <a:r>
              <a:rPr kumimoji="1" lang="en-US" altLang="zh-TW" sz="2400" dirty="0"/>
              <a:t>TTV</a:t>
            </a:r>
            <a:r>
              <a:rPr kumimoji="1" lang="zh-TW" altLang="en-US" sz="2400" dirty="0"/>
              <a:t>，雙方同時測試檢測來確認乾淨度。</a:t>
            </a:r>
          </a:p>
        </p:txBody>
      </p:sp>
    </p:spTree>
    <p:extLst>
      <p:ext uri="{BB962C8B-B14F-4D97-AF65-F5344CB8AC3E}">
        <p14:creationId xmlns:p14="http://schemas.microsoft.com/office/powerpoint/2010/main" val="3278294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DF488D-8C99-D8D1-9812-1FDDA4E7A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14" y="290286"/>
            <a:ext cx="10424886" cy="129581"/>
          </a:xfrm>
        </p:spPr>
        <p:txBody>
          <a:bodyPr>
            <a:noAutofit/>
          </a:bodyPr>
          <a:lstStyle/>
          <a:p>
            <a:r>
              <a:rPr lang="en" altLang="zh-TW" sz="2400" dirty="0">
                <a:latin typeface="Calibri" panose="020F0502020204030204" pitchFamily="34" charset="0"/>
              </a:rPr>
              <a:t>Chemical Qual  1  </a:t>
            </a:r>
            <a:r>
              <a:rPr lang="zh-TW" altLang="en-US" sz="2400" dirty="0">
                <a:latin typeface="Calibri" panose="020F0502020204030204" pitchFamily="34" charset="0"/>
              </a:rPr>
              <a:t>測試紀錄</a:t>
            </a:r>
            <a:br>
              <a:rPr lang="en" altLang="zh-TW" sz="2400" dirty="0">
                <a:latin typeface="Arial" panose="020B0604020202020204" pitchFamily="34" charset="0"/>
              </a:rPr>
            </a:br>
            <a:endParaRPr kumimoji="1" lang="zh-TW" altLang="en-US" sz="24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02A03F9-1050-9C1F-3FBA-BDA46F34C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87525"/>
              </p:ext>
            </p:extLst>
          </p:nvPr>
        </p:nvGraphicFramePr>
        <p:xfrm>
          <a:off x="314494" y="540306"/>
          <a:ext cx="5950841" cy="5905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741">
                  <a:extLst>
                    <a:ext uri="{9D8B030D-6E8A-4147-A177-3AD203B41FA5}">
                      <a16:colId xmlns:a16="http://schemas.microsoft.com/office/drawing/2014/main" val="4143821794"/>
                    </a:ext>
                  </a:extLst>
                </a:gridCol>
                <a:gridCol w="1165936">
                  <a:extLst>
                    <a:ext uri="{9D8B030D-6E8A-4147-A177-3AD203B41FA5}">
                      <a16:colId xmlns:a16="http://schemas.microsoft.com/office/drawing/2014/main" val="2037713152"/>
                    </a:ext>
                  </a:extLst>
                </a:gridCol>
                <a:gridCol w="539200">
                  <a:extLst>
                    <a:ext uri="{9D8B030D-6E8A-4147-A177-3AD203B41FA5}">
                      <a16:colId xmlns:a16="http://schemas.microsoft.com/office/drawing/2014/main" val="2220947177"/>
                    </a:ext>
                  </a:extLst>
                </a:gridCol>
                <a:gridCol w="448935">
                  <a:extLst>
                    <a:ext uri="{9D8B030D-6E8A-4147-A177-3AD203B41FA5}">
                      <a16:colId xmlns:a16="http://schemas.microsoft.com/office/drawing/2014/main" val="1156317612"/>
                    </a:ext>
                  </a:extLst>
                </a:gridCol>
                <a:gridCol w="135527">
                  <a:extLst>
                    <a:ext uri="{9D8B030D-6E8A-4147-A177-3AD203B41FA5}">
                      <a16:colId xmlns:a16="http://schemas.microsoft.com/office/drawing/2014/main" val="544512002"/>
                    </a:ext>
                  </a:extLst>
                </a:gridCol>
                <a:gridCol w="512742">
                  <a:extLst>
                    <a:ext uri="{9D8B030D-6E8A-4147-A177-3AD203B41FA5}">
                      <a16:colId xmlns:a16="http://schemas.microsoft.com/office/drawing/2014/main" val="2700040939"/>
                    </a:ext>
                  </a:extLst>
                </a:gridCol>
                <a:gridCol w="448437">
                  <a:extLst>
                    <a:ext uri="{9D8B030D-6E8A-4147-A177-3AD203B41FA5}">
                      <a16:colId xmlns:a16="http://schemas.microsoft.com/office/drawing/2014/main" val="796396834"/>
                    </a:ext>
                  </a:extLst>
                </a:gridCol>
                <a:gridCol w="236025">
                  <a:extLst>
                    <a:ext uri="{9D8B030D-6E8A-4147-A177-3AD203B41FA5}">
                      <a16:colId xmlns:a16="http://schemas.microsoft.com/office/drawing/2014/main" val="55625276"/>
                    </a:ext>
                  </a:extLst>
                </a:gridCol>
                <a:gridCol w="657704">
                  <a:extLst>
                    <a:ext uri="{9D8B030D-6E8A-4147-A177-3AD203B41FA5}">
                      <a16:colId xmlns:a16="http://schemas.microsoft.com/office/drawing/2014/main" val="2741861712"/>
                    </a:ext>
                  </a:extLst>
                </a:gridCol>
                <a:gridCol w="134148">
                  <a:extLst>
                    <a:ext uri="{9D8B030D-6E8A-4147-A177-3AD203B41FA5}">
                      <a16:colId xmlns:a16="http://schemas.microsoft.com/office/drawing/2014/main" val="2094680280"/>
                    </a:ext>
                  </a:extLst>
                </a:gridCol>
                <a:gridCol w="205718">
                  <a:extLst>
                    <a:ext uri="{9D8B030D-6E8A-4147-A177-3AD203B41FA5}">
                      <a16:colId xmlns:a16="http://schemas.microsoft.com/office/drawing/2014/main" val="3323196155"/>
                    </a:ext>
                  </a:extLst>
                </a:gridCol>
                <a:gridCol w="893728">
                  <a:extLst>
                    <a:ext uri="{9D8B030D-6E8A-4147-A177-3AD203B41FA5}">
                      <a16:colId xmlns:a16="http://schemas.microsoft.com/office/drawing/2014/main" val="4240473332"/>
                    </a:ext>
                  </a:extLst>
                </a:gridCol>
              </a:tblGrid>
              <a:tr h="163624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潔沛企業有限公司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519663"/>
                  </a:ext>
                </a:extLst>
              </a:tr>
              <a:tr h="163624"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新產品試做評估單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771068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產品名稱（料號）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12"</a:t>
                      </a:r>
                      <a:r>
                        <a:rPr lang="zh-TW" altLang="en-US" sz="1000" u="none" strike="noStrike" dirty="0">
                          <a:effectLst/>
                        </a:rPr>
                        <a:t>基板委外代工清洗 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客戶名稱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力成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581141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規格敘述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12"/700um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需求日期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2025/12/09</a:t>
                      </a:r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331005"/>
                  </a:ext>
                </a:extLst>
              </a:tr>
              <a:tr h="163624">
                <a:tc rowSpan="4"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一、客戶需求說明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</a:t>
                      </a:r>
                      <a:r>
                        <a:rPr lang="zh-TW" altLang="en-US" sz="1000" u="none" strike="noStrike" dirty="0">
                          <a:effectLst/>
                        </a:rPr>
                        <a:t>、客戶提供資料：□規格書■品質標準□圖檔□檢測能力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58401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2</a:t>
                      </a:r>
                      <a:r>
                        <a:rPr lang="zh-TW" altLang="en-US" sz="1000" u="none" strike="noStrike" dirty="0">
                          <a:effectLst/>
                        </a:rPr>
                        <a:t>、樣品需求時間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數量：</a:t>
                      </a:r>
                      <a:r>
                        <a:rPr lang="en-US" altLang="zh-TW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2025/12/09</a:t>
                      </a:r>
                      <a:r>
                        <a:rPr lang="zh-TW" altLang="en-US" sz="1000" u="none" strike="noStrike" dirty="0">
                          <a:effectLst/>
                        </a:rPr>
                        <a:t>，</a:t>
                      </a:r>
                      <a:r>
                        <a:rPr lang="en-US" altLang="zh-TW" sz="1000" u="none" strike="noStrike" dirty="0">
                          <a:effectLst/>
                        </a:rPr>
                        <a:t>2</a:t>
                      </a:r>
                      <a:r>
                        <a:rPr lang="zh-TW" altLang="en-US" sz="1000" u="none" strike="noStrike" dirty="0">
                          <a:effectLst/>
                        </a:rPr>
                        <a:t>片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47626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3</a:t>
                      </a:r>
                      <a:r>
                        <a:rPr lang="zh-TW" altLang="en-US" sz="1000" u="none" strike="noStrike" dirty="0">
                          <a:effectLst/>
                        </a:rPr>
                        <a:t>、包裝方式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數量：原包裝包回，</a:t>
                      </a:r>
                      <a:r>
                        <a:rPr lang="en-US" altLang="zh-TW" sz="1000" u="none" strike="noStrike" dirty="0">
                          <a:effectLst/>
                        </a:rPr>
                        <a:t>2</a:t>
                      </a:r>
                      <a:r>
                        <a:rPr lang="zh-TW" altLang="en-US" sz="1000" u="none" strike="noStrike" dirty="0">
                          <a:effectLst/>
                        </a:rPr>
                        <a:t>片。 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664863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4</a:t>
                      </a:r>
                      <a:r>
                        <a:rPr lang="zh-TW" altLang="en-US" sz="1000" u="none" strike="noStrike" dirty="0">
                          <a:effectLst/>
                        </a:rPr>
                        <a:t>、運輸方式：業務載回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569969"/>
                  </a:ext>
                </a:extLst>
              </a:tr>
              <a:tr h="32131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二、技術能力評估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（包括：規格書、品質標準、圖檔、檢測能力等能否到達客戶的要求的評估）： 依力成檢測結果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4076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三、產能或加工能力評估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新產品的預計年產量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客戶需求產能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工廠加工產能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136370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四、計劃使用物料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超音波</a:t>
                      </a:r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r>
                        <a:rPr lang="en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BL37</a:t>
                      </a:r>
                      <a:r>
                        <a:rPr lang="en-US" altLang="zh-TW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r>
                        <a:rPr lang="zh-TW" altLang="en-US" sz="1000" u="none" strike="noStrike" dirty="0">
                          <a:effectLst/>
                        </a:rPr>
                        <a:t>、終端清洗機</a:t>
                      </a:r>
                      <a:r>
                        <a:rPr lang="en-US" altLang="zh-TW" sz="1000" u="none" strike="noStrike" dirty="0">
                          <a:effectLst/>
                        </a:rPr>
                        <a:t>BL900</a:t>
                      </a:r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86598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五、計劃加工作業流程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超音波清洗機、終端清洗機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73073"/>
                  </a:ext>
                </a:extLst>
              </a:tr>
              <a:tr h="32131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六、新產品關鍵技術問題：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 </a:t>
                      </a:r>
                      <a:r>
                        <a:rPr lang="zh-TW" altLang="en-US" sz="1000" u="none" strike="noStrike" dirty="0">
                          <a:effectLst/>
                        </a:rPr>
                        <a:t>超音波清洗除膠的乾淨度。以初期送樣測試之參數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807989"/>
                  </a:ext>
                </a:extLst>
              </a:tr>
              <a:tr h="163624">
                <a:tc gridSpan="1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七、加工流程分析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7880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項次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作業內容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作業要點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000760"/>
                  </a:ext>
                </a:extLst>
              </a:tr>
              <a:tr h="314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1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altLang="zh-TW" sz="1000" u="none" strike="noStrike" dirty="0">
                          <a:effectLst/>
                        </a:rPr>
                        <a:t>OCR-</a:t>
                      </a:r>
                      <a:r>
                        <a:rPr lang="zh-TW" altLang="en-US" sz="1000" u="none" strike="noStrike" dirty="0">
                          <a:effectLst/>
                        </a:rPr>
                        <a:t>光學字元刪選機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N/A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09846"/>
                  </a:ext>
                </a:extLst>
              </a:tr>
              <a:tr h="384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2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超音波清洗機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■溫度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75</a:t>
                      </a: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30</a:t>
                      </a: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■藥水濃度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■藥水濃度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000" u="none" strike="noStrike">
                          <a:effectLst/>
                        </a:rPr>
                        <a:t>100%</a:t>
                      </a:r>
                      <a:endParaRPr lang="zh-TW" altLang="en-US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extLst>
                  <a:ext uri="{0D108BD9-81ED-4DB2-BD59-A6C34878D82A}">
                    <a16:rowId xmlns:a16="http://schemas.microsoft.com/office/drawing/2014/main" val="1343294112"/>
                  </a:ext>
                </a:extLst>
              </a:tr>
              <a:tr h="38439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■溫度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常溫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.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r>
                        <a:rPr lang="en-US" altLang="zh-TW" sz="1000" u="none" strike="noStrike" dirty="0">
                          <a:effectLst/>
                        </a:rPr>
                        <a:t>RO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extLst>
                  <a:ext uri="{0D108BD9-81ED-4DB2-BD59-A6C34878D82A}">
                    <a16:rowId xmlns:a16="http://schemas.microsoft.com/office/drawing/2014/main" val="3903012203"/>
                  </a:ext>
                </a:extLst>
              </a:tr>
              <a:tr h="384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3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終端清洗機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■溫度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常溫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■速度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■速度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0.9M/MIN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　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4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175046"/>
                  </a:ext>
                </a:extLst>
              </a:tr>
              <a:tr h="1951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4</a:t>
                      </a:r>
                      <a:r>
                        <a:rPr lang="zh-TW" altLang="en-US" sz="1000" u="none" strike="noStrike">
                          <a:effectLst/>
                        </a:rPr>
                        <a:t>、 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AOI</a:t>
                      </a:r>
                      <a:r>
                        <a:rPr lang="zh-TW" altLang="en-US" sz="1000" u="none" strike="noStrike" dirty="0">
                          <a:effectLst/>
                        </a:rPr>
                        <a:t>自動光學檢測機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JEPE&amp;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力成測試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　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677156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5</a:t>
                      </a:r>
                      <a:r>
                        <a:rPr lang="zh-TW" altLang="en-US" sz="1000" u="none" strike="noStrike" dirty="0">
                          <a:effectLst/>
                        </a:rPr>
                        <a:t>、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TTV&amp;THICKNESS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JEPE&amp;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力成測試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358916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6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目視檢驗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品質標準如下：無破損，表面無汙染物。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406736"/>
                  </a:ext>
                </a:extLst>
              </a:tr>
              <a:tr h="163624">
                <a:tc rowSpan="2"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八、治具需求分析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■使用現有治具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□需重新開發治具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29765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預估治具數量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1PCS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820828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九、包裝要求：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■依據客戶標準包裝□依據公司標準包裝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62074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評估結論：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●可行                  ○修改後可行                   ○不可行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95480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核准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審核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製作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70925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61893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編號：</a:t>
                      </a:r>
                      <a:r>
                        <a:rPr lang="en" sz="1000" u="none" strike="noStrike" dirty="0">
                          <a:effectLst/>
                        </a:rPr>
                        <a:t>MP09-01(00</a:t>
                      </a:r>
                      <a:r>
                        <a:rPr lang="en-US" altLang="zh-TW" sz="1000" u="none" strike="noStrike" dirty="0">
                          <a:effectLst/>
                        </a:rPr>
                        <a:t>8</a:t>
                      </a:r>
                      <a:r>
                        <a:rPr lang="en" sz="1000" u="none" strike="noStrike" dirty="0">
                          <a:effectLst/>
                        </a:rPr>
                        <a:t>)A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版本：</a:t>
                      </a:r>
                      <a:r>
                        <a:rPr lang="en-US" altLang="zh-TW" sz="1000" u="none" strike="noStrike">
                          <a:effectLst/>
                        </a:rPr>
                        <a:t>1.0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日期：</a:t>
                      </a:r>
                      <a:r>
                        <a:rPr lang="en-US" altLang="zh-TW" sz="1000" u="none" strike="noStrike" dirty="0">
                          <a:effectLst/>
                        </a:rPr>
                        <a:t>2025/12/01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4579001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DBFA04B-8D80-54EA-4DF4-B91150094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149304"/>
              </p:ext>
            </p:extLst>
          </p:nvPr>
        </p:nvGraphicFramePr>
        <p:xfrm>
          <a:off x="6610121" y="551323"/>
          <a:ext cx="5133863" cy="54223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3409">
                  <a:extLst>
                    <a:ext uri="{9D8B030D-6E8A-4147-A177-3AD203B41FA5}">
                      <a16:colId xmlns:a16="http://schemas.microsoft.com/office/drawing/2014/main" val="1535897018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1003251393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4165397473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2027756058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1922791501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493291326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3687358072"/>
                    </a:ext>
                  </a:extLst>
                </a:gridCol>
              </a:tblGrid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潔沛企業有限公司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269034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藥水測試紀錄表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156595"/>
                  </a:ext>
                </a:extLst>
              </a:tr>
              <a:tr h="327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產品名稱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吋玻璃基板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客戶名稱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力成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708772"/>
                  </a:ext>
                </a:extLst>
              </a:tr>
              <a:tr h="327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規格敘述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</a:t>
                      </a:r>
                      <a:r>
                        <a:rPr lang="en-US" altLang="zh-TW" sz="1200" u="none" strike="noStrike" dirty="0">
                          <a:effectLst/>
                        </a:rPr>
                        <a:t>/700</a:t>
                      </a:r>
                      <a:r>
                        <a:rPr lang="en" sz="1200" u="none" strike="noStrike">
                          <a:effectLst/>
                        </a:rPr>
                        <a:t>um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測試日期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2025</a:t>
                      </a:r>
                      <a:r>
                        <a:rPr lang="zh-TW" altLang="en-US" sz="1200" u="none" strike="noStrike" dirty="0">
                          <a:effectLst/>
                        </a:rPr>
                        <a:t>年</a:t>
                      </a: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月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zh-TW" altLang="en-US" sz="1200" u="none" strike="noStrike" dirty="0">
                          <a:effectLst/>
                        </a:rPr>
                        <a:t>日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99444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測試過程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20090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</a:t>
                      </a:r>
                      <a:r>
                        <a:rPr lang="en-US" altLang="zh-TW" sz="1200" u="none" strike="noStrike" dirty="0">
                          <a:effectLst/>
                        </a:rPr>
                        <a:t>1: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717465"/>
                  </a:ext>
                </a:extLst>
              </a:tr>
              <a:tr h="829088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超音波條件</a:t>
                      </a:r>
                      <a:r>
                        <a:rPr lang="en-US" altLang="zh-TW" sz="1200" u="none" strike="noStrike" dirty="0">
                          <a:effectLst/>
                        </a:rPr>
                        <a:t>-</a:t>
                      </a:r>
                      <a:r>
                        <a:rPr lang="zh-TW" altLang="en-US" sz="1200" u="none" strike="noStrike" dirty="0">
                          <a:effectLst/>
                        </a:rPr>
                        <a:t>使用</a:t>
                      </a:r>
                      <a:r>
                        <a:rPr lang="en-US" altLang="zh-TW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BL-3729</a:t>
                      </a:r>
                      <a:r>
                        <a:rPr lang="zh-TW" altLang="en-US" sz="1200" u="none" strike="noStrike" dirty="0">
                          <a:effectLst/>
                        </a:rPr>
                        <a:t>，清洗槽溫度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:75°</a:t>
                      </a:r>
                      <a:r>
                        <a:rPr lang="en" sz="1200" u="none" strike="noStrike" dirty="0">
                          <a:effectLst/>
                        </a:rPr>
                        <a:t>C、</a:t>
                      </a:r>
                      <a:r>
                        <a:rPr lang="zh-TW" altLang="en-US" sz="1200" u="none" strike="noStrike" dirty="0">
                          <a:effectLst/>
                        </a:rPr>
                        <a:t>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:30</a:t>
                      </a:r>
                      <a:r>
                        <a:rPr lang="en" sz="1200" u="none" strike="noStrike" dirty="0">
                          <a:effectLst/>
                        </a:rPr>
                        <a:t>min</a:t>
                      </a:r>
                      <a:r>
                        <a:rPr lang="zh-TW" altLang="en-US" sz="1200" dirty="0"/>
                        <a:t>，純水清洗溫度</a:t>
                      </a:r>
                      <a:r>
                        <a:rPr lang="en-US" altLang="zh-TW" sz="1200" dirty="0"/>
                        <a:t>:</a:t>
                      </a:r>
                      <a:r>
                        <a:rPr lang="zh-TW" altLang="en-US" sz="1200" dirty="0"/>
                        <a:t>室溫、時間</a:t>
                      </a:r>
                      <a:r>
                        <a:rPr lang="en-US" altLang="zh-TW" sz="1200" dirty="0"/>
                        <a:t>10</a:t>
                      </a:r>
                      <a:r>
                        <a:rPr lang="en" altLang="zh-TW" sz="1200" dirty="0"/>
                        <a:t>min</a:t>
                      </a:r>
                      <a:br>
                        <a:rPr lang="zh-TW" altLang="en-US" sz="1200" u="none" strike="noStrike" dirty="0">
                          <a:effectLst/>
                        </a:rPr>
                      </a:br>
                      <a:r>
                        <a:rPr lang="zh-TW" altLang="en-US" sz="1200" u="none" strike="noStrike" dirty="0">
                          <a:effectLst/>
                        </a:rPr>
                        <a:t>藥水濃度</a:t>
                      </a:r>
                      <a:r>
                        <a:rPr lang="en-US" altLang="zh-TW" sz="1200" u="none" strike="noStrike" dirty="0">
                          <a:effectLst/>
                        </a:rPr>
                        <a:t>:100%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7062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終端清洗機條件</a:t>
                      </a:r>
                      <a:r>
                        <a:rPr lang="en-US" altLang="zh-TW" sz="1200" u="none" strike="noStrike" dirty="0">
                          <a:effectLst/>
                        </a:rPr>
                        <a:t>-</a:t>
                      </a:r>
                      <a:r>
                        <a:rPr lang="zh-TW" altLang="en-US" sz="1200" u="none" strike="noStrike" dirty="0">
                          <a:effectLst/>
                        </a:rPr>
                        <a:t>使用</a:t>
                      </a:r>
                      <a:r>
                        <a:rPr lang="en-US" altLang="zh-TW" sz="1200" u="none" strike="noStrike" dirty="0">
                          <a:effectLst/>
                        </a:rPr>
                        <a:t>BL-900</a:t>
                      </a:r>
                      <a:r>
                        <a:rPr lang="zh-TW" altLang="en-US" sz="1200" u="none" strike="noStrike" dirty="0">
                          <a:effectLst/>
                        </a:rPr>
                        <a:t>清洗劑、溫度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r>
                        <a:rPr lang="zh-TW" altLang="en-US" sz="1200" u="none" strike="noStrike" dirty="0">
                          <a:effectLst/>
                        </a:rPr>
                        <a:t>常溫、速度</a:t>
                      </a:r>
                      <a:r>
                        <a:rPr lang="en-US" altLang="zh-TW" sz="1200" u="none" strike="noStrike" dirty="0">
                          <a:effectLst/>
                        </a:rPr>
                        <a:t>:0.9</a:t>
                      </a:r>
                      <a:r>
                        <a:rPr lang="en" sz="1200" u="none" strike="noStrike" dirty="0">
                          <a:effectLst/>
                        </a:rPr>
                        <a:t>M/MIN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121646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使用治具</a:t>
                      </a:r>
                      <a:r>
                        <a:rPr lang="en-US" altLang="zh-TW" sz="1200" u="none" strike="noStrike" dirty="0">
                          <a:effectLst/>
                        </a:rPr>
                        <a:t>:12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吋洗淨藍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904460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測試結果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82899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清洗後樣品外觀無腐蝕現象，目視檢驗無污染可放量測試清洗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783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1428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750356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682098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271745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21025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518132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測試結果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合格 □                                   不合格   □             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93797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核准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審核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製作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621977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　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11671"/>
                  </a:ext>
                </a:extLst>
              </a:tr>
              <a:tr h="414545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編號：</a:t>
                      </a:r>
                      <a:r>
                        <a:rPr lang="en" sz="1200" u="none" strike="noStrike" dirty="0">
                          <a:effectLst/>
                        </a:rPr>
                        <a:t>MP09-02(00</a:t>
                      </a:r>
                      <a:r>
                        <a:rPr lang="en-US" altLang="zh-TW" sz="1200" u="none" strike="noStrike" dirty="0">
                          <a:effectLst/>
                        </a:rPr>
                        <a:t>8</a:t>
                      </a:r>
                      <a:r>
                        <a:rPr lang="en" sz="1200" u="none" strike="noStrike" dirty="0">
                          <a:effectLst/>
                        </a:rPr>
                        <a:t>)A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3263544"/>
                  </a:ext>
                </a:extLst>
              </a:tr>
            </a:tbl>
          </a:graphicData>
        </a:graphic>
      </p:graphicFrame>
      <p:pic>
        <p:nvPicPr>
          <p:cNvPr id="16" name="Check Box 1">
            <a:extLst>
              <a:ext uri="{63B3BB69-23CF-44E3-9099-C40C66FF867C}">
                <a14:compatExt xmlns:a14="http://schemas.microsoft.com/office/drawing/2010/main" spid="_x0000_s1025"/>
              </a:ext>
              <a:ext uri="{FF2B5EF4-FFF2-40B4-BE49-F238E27FC236}">
                <a16:creationId xmlns:a16="http://schemas.microsoft.com/office/drawing/2014/main" id="{00000000-0008-0000-0000-00000104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567" y="7480555"/>
            <a:ext cx="225033" cy="127310"/>
          </a:xfrm>
          <a:prstGeom prst="rect">
            <a:avLst/>
          </a:prstGeom>
        </p:spPr>
      </p:pic>
      <p:pic>
        <p:nvPicPr>
          <p:cNvPr id="17" name="Check Box 2">
            <a:extLst>
              <a:ext uri="{63B3BB69-23CF-44E3-9099-C40C66FF867C}">
                <a14:compatExt xmlns:a14="http://schemas.microsoft.com/office/drawing/2010/main" spid="_x0000_s1026"/>
              </a:ext>
              <a:ext uri="{FF2B5EF4-FFF2-40B4-BE49-F238E27FC236}">
                <a16:creationId xmlns:a16="http://schemas.microsoft.com/office/drawing/2014/main" id="{00000000-0008-0000-0000-00000204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6967" y="7467855"/>
            <a:ext cx="225033" cy="127310"/>
          </a:xfrm>
          <a:prstGeom prst="rect">
            <a:avLst/>
          </a:prstGeom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7F1688C4-59F6-D790-129F-709ECBB422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7467" y="2311731"/>
            <a:ext cx="225033" cy="13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FB477C0E-FBA7-2C40-3637-F39E1AEFF1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6293" y="2311655"/>
            <a:ext cx="238270" cy="12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240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E9D43-F3ED-88F9-A4F8-9588B5AF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2B164C-20B5-3128-CCA8-A51B6B92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14" y="290286"/>
            <a:ext cx="10424886" cy="129581"/>
          </a:xfrm>
        </p:spPr>
        <p:txBody>
          <a:bodyPr>
            <a:noAutofit/>
          </a:bodyPr>
          <a:lstStyle/>
          <a:p>
            <a:r>
              <a:rPr lang="en" altLang="zh-TW" sz="2400" dirty="0">
                <a:latin typeface="Calibri" panose="020F0502020204030204" pitchFamily="34" charset="0"/>
              </a:rPr>
              <a:t>Chemical Qual  </a:t>
            </a:r>
            <a:r>
              <a:rPr lang="en-US" altLang="zh-TW" sz="2400" dirty="0">
                <a:latin typeface="Calibri" panose="020F0502020204030204" pitchFamily="34" charset="0"/>
              </a:rPr>
              <a:t>2</a:t>
            </a:r>
            <a:r>
              <a:rPr lang="en" altLang="zh-TW" sz="2400" dirty="0">
                <a:latin typeface="Calibri" panose="020F0502020204030204" pitchFamily="34" charset="0"/>
              </a:rPr>
              <a:t>  </a:t>
            </a:r>
            <a:r>
              <a:rPr lang="zh-TW" altLang="en-US" sz="2400" dirty="0">
                <a:latin typeface="Calibri" panose="020F0502020204030204" pitchFamily="34" charset="0"/>
              </a:rPr>
              <a:t>測試紀錄</a:t>
            </a:r>
            <a:br>
              <a:rPr lang="en" altLang="zh-TW" sz="2400" dirty="0">
                <a:latin typeface="Arial" panose="020B0604020202020204" pitchFamily="34" charset="0"/>
              </a:rPr>
            </a:br>
            <a:endParaRPr kumimoji="1" lang="zh-TW" altLang="en-US" sz="24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14D3FA0-126D-23AF-AEB5-33BEE094E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69705"/>
              </p:ext>
            </p:extLst>
          </p:nvPr>
        </p:nvGraphicFramePr>
        <p:xfrm>
          <a:off x="314494" y="540306"/>
          <a:ext cx="5950841" cy="5905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741">
                  <a:extLst>
                    <a:ext uri="{9D8B030D-6E8A-4147-A177-3AD203B41FA5}">
                      <a16:colId xmlns:a16="http://schemas.microsoft.com/office/drawing/2014/main" val="4143821794"/>
                    </a:ext>
                  </a:extLst>
                </a:gridCol>
                <a:gridCol w="1165936">
                  <a:extLst>
                    <a:ext uri="{9D8B030D-6E8A-4147-A177-3AD203B41FA5}">
                      <a16:colId xmlns:a16="http://schemas.microsoft.com/office/drawing/2014/main" val="2037713152"/>
                    </a:ext>
                  </a:extLst>
                </a:gridCol>
                <a:gridCol w="539200">
                  <a:extLst>
                    <a:ext uri="{9D8B030D-6E8A-4147-A177-3AD203B41FA5}">
                      <a16:colId xmlns:a16="http://schemas.microsoft.com/office/drawing/2014/main" val="2220947177"/>
                    </a:ext>
                  </a:extLst>
                </a:gridCol>
                <a:gridCol w="448935">
                  <a:extLst>
                    <a:ext uri="{9D8B030D-6E8A-4147-A177-3AD203B41FA5}">
                      <a16:colId xmlns:a16="http://schemas.microsoft.com/office/drawing/2014/main" val="1156317612"/>
                    </a:ext>
                  </a:extLst>
                </a:gridCol>
                <a:gridCol w="135527">
                  <a:extLst>
                    <a:ext uri="{9D8B030D-6E8A-4147-A177-3AD203B41FA5}">
                      <a16:colId xmlns:a16="http://schemas.microsoft.com/office/drawing/2014/main" val="544512002"/>
                    </a:ext>
                  </a:extLst>
                </a:gridCol>
                <a:gridCol w="512742">
                  <a:extLst>
                    <a:ext uri="{9D8B030D-6E8A-4147-A177-3AD203B41FA5}">
                      <a16:colId xmlns:a16="http://schemas.microsoft.com/office/drawing/2014/main" val="2700040939"/>
                    </a:ext>
                  </a:extLst>
                </a:gridCol>
                <a:gridCol w="448437">
                  <a:extLst>
                    <a:ext uri="{9D8B030D-6E8A-4147-A177-3AD203B41FA5}">
                      <a16:colId xmlns:a16="http://schemas.microsoft.com/office/drawing/2014/main" val="796396834"/>
                    </a:ext>
                  </a:extLst>
                </a:gridCol>
                <a:gridCol w="236025">
                  <a:extLst>
                    <a:ext uri="{9D8B030D-6E8A-4147-A177-3AD203B41FA5}">
                      <a16:colId xmlns:a16="http://schemas.microsoft.com/office/drawing/2014/main" val="55625276"/>
                    </a:ext>
                  </a:extLst>
                </a:gridCol>
                <a:gridCol w="657704">
                  <a:extLst>
                    <a:ext uri="{9D8B030D-6E8A-4147-A177-3AD203B41FA5}">
                      <a16:colId xmlns:a16="http://schemas.microsoft.com/office/drawing/2014/main" val="2741861712"/>
                    </a:ext>
                  </a:extLst>
                </a:gridCol>
                <a:gridCol w="134148">
                  <a:extLst>
                    <a:ext uri="{9D8B030D-6E8A-4147-A177-3AD203B41FA5}">
                      <a16:colId xmlns:a16="http://schemas.microsoft.com/office/drawing/2014/main" val="2094680280"/>
                    </a:ext>
                  </a:extLst>
                </a:gridCol>
                <a:gridCol w="205718">
                  <a:extLst>
                    <a:ext uri="{9D8B030D-6E8A-4147-A177-3AD203B41FA5}">
                      <a16:colId xmlns:a16="http://schemas.microsoft.com/office/drawing/2014/main" val="3323196155"/>
                    </a:ext>
                  </a:extLst>
                </a:gridCol>
                <a:gridCol w="893728">
                  <a:extLst>
                    <a:ext uri="{9D8B030D-6E8A-4147-A177-3AD203B41FA5}">
                      <a16:colId xmlns:a16="http://schemas.microsoft.com/office/drawing/2014/main" val="4240473332"/>
                    </a:ext>
                  </a:extLst>
                </a:gridCol>
              </a:tblGrid>
              <a:tr h="163624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潔沛企業有限公司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519663"/>
                  </a:ext>
                </a:extLst>
              </a:tr>
              <a:tr h="163624"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新產品試做評估單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771068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產品名稱（料號）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12"</a:t>
                      </a:r>
                      <a:r>
                        <a:rPr lang="zh-TW" altLang="en-US" sz="1000" u="none" strike="noStrike" dirty="0">
                          <a:effectLst/>
                        </a:rPr>
                        <a:t>基板委外代工清洗 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客戶名稱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力成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581141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規格敘述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12"/700um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需求日期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2025/12/09</a:t>
                      </a:r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331005"/>
                  </a:ext>
                </a:extLst>
              </a:tr>
              <a:tr h="163624">
                <a:tc rowSpan="4"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一、客戶需求說明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</a:t>
                      </a:r>
                      <a:r>
                        <a:rPr lang="zh-TW" altLang="en-US" sz="1000" u="none" strike="noStrike" dirty="0">
                          <a:effectLst/>
                        </a:rPr>
                        <a:t>、客戶提供資料：□規格書■品質標準□圖檔□檢測能力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58401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2</a:t>
                      </a:r>
                      <a:r>
                        <a:rPr lang="zh-TW" altLang="en-US" sz="1000" u="none" strike="noStrike" dirty="0">
                          <a:effectLst/>
                        </a:rPr>
                        <a:t>、樣品需求時間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數量：</a:t>
                      </a:r>
                      <a:r>
                        <a:rPr lang="en-US" altLang="zh-TW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2025/12/09</a:t>
                      </a:r>
                      <a:r>
                        <a:rPr lang="zh-TW" altLang="en-US" sz="1000" u="none" strike="noStrike" dirty="0">
                          <a:effectLst/>
                        </a:rPr>
                        <a:t>，</a:t>
                      </a:r>
                      <a:r>
                        <a:rPr lang="en-US" altLang="zh-TW" sz="1000" u="none" strike="noStrike" dirty="0">
                          <a:effectLst/>
                        </a:rPr>
                        <a:t>23</a:t>
                      </a:r>
                      <a:r>
                        <a:rPr lang="zh-TW" altLang="en-US" sz="1000" u="none" strike="noStrike" dirty="0">
                          <a:effectLst/>
                        </a:rPr>
                        <a:t>片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47626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3</a:t>
                      </a:r>
                      <a:r>
                        <a:rPr lang="zh-TW" altLang="en-US" sz="1000" u="none" strike="noStrike" dirty="0">
                          <a:effectLst/>
                        </a:rPr>
                        <a:t>、包裝方式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數量：原包裝包回，</a:t>
                      </a:r>
                      <a:r>
                        <a:rPr lang="en-US" altLang="zh-TW" sz="1000" u="none" strike="noStrike" dirty="0">
                          <a:effectLst/>
                        </a:rPr>
                        <a:t>23</a:t>
                      </a:r>
                      <a:r>
                        <a:rPr lang="zh-TW" altLang="en-US" sz="1000" u="none" strike="noStrike" dirty="0">
                          <a:effectLst/>
                        </a:rPr>
                        <a:t>片。 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664863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4</a:t>
                      </a:r>
                      <a:r>
                        <a:rPr lang="zh-TW" altLang="en-US" sz="1000" u="none" strike="noStrike" dirty="0">
                          <a:effectLst/>
                        </a:rPr>
                        <a:t>、運輸方式：業務載回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569969"/>
                  </a:ext>
                </a:extLst>
              </a:tr>
              <a:tr h="32131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二、技術能力評估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（包括：規格書、品質標準、圖檔、檢測能力等能否到達客戶的要求的評估）： 依力成檢測結果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4076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三、產能或加工能力評估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新產品的預計年產量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客戶需求產能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工廠加工產能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136370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四、計劃使用物料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超音波</a:t>
                      </a:r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r>
                        <a:rPr lang="en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BL37</a:t>
                      </a:r>
                      <a:r>
                        <a:rPr lang="en-US" altLang="zh-TW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r>
                        <a:rPr lang="zh-TW" altLang="en-US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zh-TW" altLang="en-US" sz="1000" u="none" strike="noStrike" dirty="0">
                          <a:effectLst/>
                        </a:rPr>
                        <a:t>終端清洗機</a:t>
                      </a:r>
                      <a:r>
                        <a:rPr lang="en-US" altLang="zh-TW" sz="1000" u="none" strike="noStrike" dirty="0">
                          <a:effectLst/>
                        </a:rPr>
                        <a:t>BL900</a:t>
                      </a:r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86598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五、計劃加工作業流程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超音波清洗機、終端清洗機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73073"/>
                  </a:ext>
                </a:extLst>
              </a:tr>
              <a:tr h="32131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六、新產品關鍵技術問題：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 </a:t>
                      </a:r>
                      <a:r>
                        <a:rPr lang="zh-TW" altLang="en-US" sz="1000" u="none" strike="noStrike" dirty="0">
                          <a:effectLst/>
                        </a:rPr>
                        <a:t>超音波清洗除膠的乾淨度。以初期送樣測試之參數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807989"/>
                  </a:ext>
                </a:extLst>
              </a:tr>
              <a:tr h="163624">
                <a:tc gridSpan="1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七、加工流程分析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7880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項次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作業內容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作業要點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000760"/>
                  </a:ext>
                </a:extLst>
              </a:tr>
              <a:tr h="314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1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altLang="zh-TW" sz="1000" u="none" strike="noStrike" dirty="0">
                          <a:effectLst/>
                        </a:rPr>
                        <a:t>OCR-</a:t>
                      </a:r>
                      <a:r>
                        <a:rPr lang="zh-TW" altLang="en-US" sz="1000" u="none" strike="noStrike" dirty="0">
                          <a:effectLst/>
                        </a:rPr>
                        <a:t>光學字元刪選機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N/A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09846"/>
                  </a:ext>
                </a:extLst>
              </a:tr>
              <a:tr h="384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2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超音波清洗機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■溫度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75</a:t>
                      </a: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30</a:t>
                      </a: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■藥水濃度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■藥水濃度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000" u="none" strike="noStrike">
                          <a:effectLst/>
                        </a:rPr>
                        <a:t>100%</a:t>
                      </a:r>
                      <a:endParaRPr lang="zh-TW" altLang="en-US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extLst>
                  <a:ext uri="{0D108BD9-81ED-4DB2-BD59-A6C34878D82A}">
                    <a16:rowId xmlns:a16="http://schemas.microsoft.com/office/drawing/2014/main" val="1343294112"/>
                  </a:ext>
                </a:extLst>
              </a:tr>
              <a:tr h="38439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■溫度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常溫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■時間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.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 </a:t>
                      </a:r>
                      <a:r>
                        <a:rPr lang="en-US" altLang="zh-TW" sz="1000" u="none" strike="noStrike" dirty="0">
                          <a:effectLst/>
                        </a:rPr>
                        <a:t>RO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zh-TW" altLang="en-US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100%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extLst>
                  <a:ext uri="{0D108BD9-81ED-4DB2-BD59-A6C34878D82A}">
                    <a16:rowId xmlns:a16="http://schemas.microsoft.com/office/drawing/2014/main" val="3903012203"/>
                  </a:ext>
                </a:extLst>
              </a:tr>
              <a:tr h="3843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3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終端清洗機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■溫度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常溫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■速度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■速度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0.9M/MIN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　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/>
                </a:tc>
                <a:tc gridSpan="4">
                  <a:txBody>
                    <a:bodyPr/>
                    <a:lstStyle/>
                    <a:p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dirty="0"/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175046"/>
                  </a:ext>
                </a:extLst>
              </a:tr>
              <a:tr h="1951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4</a:t>
                      </a:r>
                      <a:r>
                        <a:rPr lang="zh-TW" altLang="en-US" sz="1000" u="none" strike="noStrike">
                          <a:effectLst/>
                        </a:rPr>
                        <a:t>、 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AOI</a:t>
                      </a:r>
                      <a:r>
                        <a:rPr lang="zh-TW" altLang="en-US" sz="1000" u="none" strike="noStrike" dirty="0">
                          <a:effectLst/>
                        </a:rPr>
                        <a:t>自動光學檢測機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JEPE&amp;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力成測試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400" u="none" strike="noStrike" dirty="0">
                          <a:effectLst/>
                        </a:rPr>
                        <a:t>　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677156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 dirty="0">
                          <a:effectLst/>
                        </a:rPr>
                        <a:t>5</a:t>
                      </a:r>
                      <a:r>
                        <a:rPr lang="zh-TW" altLang="en-US" sz="1000" u="none" strike="noStrike" dirty="0">
                          <a:effectLst/>
                        </a:rPr>
                        <a:t>、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TTV&amp;THICKNESS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JEPE&amp;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力成測試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358916"/>
                  </a:ext>
                </a:extLst>
              </a:tr>
              <a:tr h="163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u="none" strike="noStrike">
                          <a:effectLst/>
                        </a:rPr>
                        <a:t>6</a:t>
                      </a:r>
                      <a:r>
                        <a:rPr lang="zh-TW" altLang="en-US" sz="1000" u="none" strike="noStrike">
                          <a:effectLst/>
                        </a:rPr>
                        <a:t>、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目視檢驗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品質標準如下：無破損，表面無汙染物。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406736"/>
                  </a:ext>
                </a:extLst>
              </a:tr>
              <a:tr h="163624">
                <a:tc rowSpan="2"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八、治具需求分析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■使用現有治具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□需重新開發治具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29765"/>
                  </a:ext>
                </a:extLst>
              </a:tr>
              <a:tr h="163624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預估治具數量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u="none" strike="noStrike" dirty="0">
                          <a:effectLst/>
                        </a:rPr>
                        <a:t>1PCS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820828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九、包裝要求：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■依據客戶標準包裝□依據公司標準包裝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62074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評估結論：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●可行                  ○修改後可行                   ○不可行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95480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核准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審核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製作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70925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618937"/>
                  </a:ext>
                </a:extLst>
              </a:tr>
              <a:tr h="16362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編號：</a:t>
                      </a:r>
                      <a:r>
                        <a:rPr lang="en" sz="1000" u="none" strike="noStrike" dirty="0">
                          <a:effectLst/>
                        </a:rPr>
                        <a:t>MP09-01(00</a:t>
                      </a:r>
                      <a:r>
                        <a:rPr lang="en-US" altLang="zh-TW" sz="1000" u="none" strike="noStrike" dirty="0">
                          <a:effectLst/>
                        </a:rPr>
                        <a:t>9</a:t>
                      </a:r>
                      <a:r>
                        <a:rPr lang="en" sz="1000" u="none" strike="noStrike" dirty="0">
                          <a:effectLst/>
                        </a:rPr>
                        <a:t>)A</a:t>
                      </a:r>
                      <a:endParaRPr lang="en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版本：</a:t>
                      </a:r>
                      <a:r>
                        <a:rPr lang="en-US" altLang="zh-TW" sz="1000" u="none" strike="noStrike">
                          <a:effectLst/>
                        </a:rPr>
                        <a:t>1.0</a:t>
                      </a: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>
                          <a:effectLst/>
                        </a:rPr>
                        <a:t>　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日期：</a:t>
                      </a:r>
                      <a:r>
                        <a:rPr lang="en-US" altLang="zh-TW" sz="1000" u="none" strike="noStrike" dirty="0">
                          <a:effectLst/>
                        </a:rPr>
                        <a:t>2025/12/02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u="none" strike="noStrike" dirty="0">
                          <a:effectLst/>
                        </a:rPr>
                        <a:t>　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5731" marR="5731" marT="5731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4579001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6F5239A-2469-609D-1BF3-B036CC791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300496"/>
              </p:ext>
            </p:extLst>
          </p:nvPr>
        </p:nvGraphicFramePr>
        <p:xfrm>
          <a:off x="6610121" y="551323"/>
          <a:ext cx="5133863" cy="54223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3409">
                  <a:extLst>
                    <a:ext uri="{9D8B030D-6E8A-4147-A177-3AD203B41FA5}">
                      <a16:colId xmlns:a16="http://schemas.microsoft.com/office/drawing/2014/main" val="1535897018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1003251393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4165397473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2027756058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1922791501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493291326"/>
                    </a:ext>
                  </a:extLst>
                </a:gridCol>
                <a:gridCol w="733409">
                  <a:extLst>
                    <a:ext uri="{9D8B030D-6E8A-4147-A177-3AD203B41FA5}">
                      <a16:colId xmlns:a16="http://schemas.microsoft.com/office/drawing/2014/main" val="3687358072"/>
                    </a:ext>
                  </a:extLst>
                </a:gridCol>
              </a:tblGrid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潔沛企業有限公司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269034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藥水測試紀錄表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156595"/>
                  </a:ext>
                </a:extLst>
              </a:tr>
              <a:tr h="327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產品名稱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吋玻璃基板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客戶名稱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力成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708772"/>
                  </a:ext>
                </a:extLst>
              </a:tr>
              <a:tr h="327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規格敘述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</a:t>
                      </a:r>
                      <a:r>
                        <a:rPr lang="en-US" altLang="zh-TW" sz="1200" u="none" strike="noStrike" dirty="0">
                          <a:effectLst/>
                        </a:rPr>
                        <a:t>/700</a:t>
                      </a:r>
                      <a:r>
                        <a:rPr lang="en" sz="1200" u="none" strike="noStrike">
                          <a:effectLst/>
                        </a:rPr>
                        <a:t>um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測試日期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2025</a:t>
                      </a:r>
                      <a:r>
                        <a:rPr lang="zh-TW" altLang="en-US" sz="1200" u="none" strike="noStrike" dirty="0">
                          <a:effectLst/>
                        </a:rPr>
                        <a:t>年</a:t>
                      </a:r>
                      <a:r>
                        <a:rPr lang="en-US" altLang="zh-TW" sz="1200" u="none" strike="noStrike" dirty="0">
                          <a:effectLst/>
                        </a:rPr>
                        <a:t>12</a:t>
                      </a:r>
                      <a:r>
                        <a:rPr lang="zh-TW" altLang="en-US" sz="1200" u="none" strike="noStrike" dirty="0">
                          <a:effectLst/>
                        </a:rPr>
                        <a:t>月</a:t>
                      </a:r>
                      <a:r>
                        <a:rPr lang="en-US" altLang="zh-TW" sz="1200" u="none" strike="noStrike" dirty="0">
                          <a:effectLst/>
                        </a:rPr>
                        <a:t>2</a:t>
                      </a:r>
                      <a:r>
                        <a:rPr lang="zh-TW" altLang="en-US" sz="1200" u="none" strike="noStrike" dirty="0">
                          <a:effectLst/>
                        </a:rPr>
                        <a:t>日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99444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測試過程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20090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</a:t>
                      </a:r>
                      <a:r>
                        <a:rPr lang="en-US" altLang="zh-TW" sz="1200" u="none" strike="noStrike" dirty="0">
                          <a:effectLst/>
                        </a:rPr>
                        <a:t>1: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717465"/>
                  </a:ext>
                </a:extLst>
              </a:tr>
              <a:tr h="829088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超音波條件</a:t>
                      </a:r>
                      <a:r>
                        <a:rPr lang="en-US" altLang="zh-TW" sz="1200" u="none" strike="noStrike" dirty="0">
                          <a:effectLst/>
                        </a:rPr>
                        <a:t>-</a:t>
                      </a:r>
                      <a:r>
                        <a:rPr lang="zh-TW" altLang="en-US" sz="1200" u="none" strike="noStrike" dirty="0">
                          <a:effectLst/>
                        </a:rPr>
                        <a:t>使用</a:t>
                      </a:r>
                      <a:r>
                        <a:rPr lang="en-US" altLang="zh-TW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BL-3729</a:t>
                      </a:r>
                      <a:r>
                        <a:rPr lang="zh-TW" altLang="en-US" sz="1200" u="none" strike="noStrike" dirty="0">
                          <a:effectLst/>
                        </a:rPr>
                        <a:t>，清洗槽溫度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:75°</a:t>
                      </a:r>
                      <a:r>
                        <a:rPr lang="en" sz="1200" u="none" strike="noStrike" dirty="0">
                          <a:effectLst/>
                        </a:rPr>
                        <a:t>C、</a:t>
                      </a:r>
                      <a:r>
                        <a:rPr lang="zh-TW" altLang="en-US" sz="1200" u="none" strike="noStrike" dirty="0">
                          <a:effectLst/>
                        </a:rPr>
                        <a:t>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:30</a:t>
                      </a:r>
                      <a:r>
                        <a:rPr lang="en" sz="1200" u="none" strike="noStrike" dirty="0">
                          <a:effectLst/>
                        </a:rPr>
                        <a:t>min</a:t>
                      </a:r>
                      <a:r>
                        <a:rPr lang="zh-TW" altLang="en-US" sz="1200" u="none" strike="noStrike" dirty="0">
                          <a:effectLst/>
                        </a:rPr>
                        <a:t>，</a:t>
                      </a:r>
                      <a:r>
                        <a:rPr lang="zh-TW" altLang="en-US" sz="1200" dirty="0"/>
                        <a:t>純水清洗溫度</a:t>
                      </a:r>
                      <a:r>
                        <a:rPr lang="en-US" altLang="zh-TW" sz="1200" dirty="0"/>
                        <a:t>:</a:t>
                      </a:r>
                      <a:r>
                        <a:rPr lang="zh-TW" altLang="en-US" sz="1200" dirty="0"/>
                        <a:t>室溫、時間</a:t>
                      </a:r>
                      <a:r>
                        <a:rPr lang="en-US" altLang="zh-TW" sz="1200" dirty="0"/>
                        <a:t>10</a:t>
                      </a:r>
                      <a:r>
                        <a:rPr lang="en" altLang="zh-TW" sz="1200" dirty="0"/>
                        <a:t>min</a:t>
                      </a:r>
                      <a:r>
                        <a:rPr lang="zh-TW" altLang="en-US" sz="1200" dirty="0"/>
                        <a:t>。</a:t>
                      </a:r>
                      <a:br>
                        <a:rPr lang="zh-TW" altLang="en-US" sz="1200" u="none" strike="noStrike" dirty="0">
                          <a:effectLst/>
                        </a:rPr>
                      </a:br>
                      <a:r>
                        <a:rPr lang="zh-TW" altLang="en-US" sz="1200" u="none" strike="noStrike" dirty="0">
                          <a:effectLst/>
                        </a:rPr>
                        <a:t>藥水濃度</a:t>
                      </a:r>
                      <a:r>
                        <a:rPr lang="en-US" altLang="zh-TW" sz="1200" u="none" strike="noStrike" dirty="0">
                          <a:effectLst/>
                        </a:rPr>
                        <a:t>:100%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7062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終端清洗機條件</a:t>
                      </a:r>
                      <a:r>
                        <a:rPr lang="en-US" altLang="zh-TW" sz="1200" u="none" strike="noStrike" dirty="0">
                          <a:effectLst/>
                        </a:rPr>
                        <a:t>-</a:t>
                      </a:r>
                      <a:r>
                        <a:rPr lang="zh-TW" altLang="en-US" sz="1200" u="none" strike="noStrike" dirty="0">
                          <a:effectLst/>
                        </a:rPr>
                        <a:t>使用</a:t>
                      </a:r>
                      <a:r>
                        <a:rPr lang="en-US" altLang="zh-TW" sz="1200" u="none" strike="noStrike" dirty="0">
                          <a:effectLst/>
                        </a:rPr>
                        <a:t>BL-900</a:t>
                      </a:r>
                      <a:r>
                        <a:rPr lang="zh-TW" altLang="en-US" sz="1200" u="none" strike="noStrike" dirty="0">
                          <a:effectLst/>
                        </a:rPr>
                        <a:t>清洗劑、溫度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r>
                        <a:rPr lang="zh-TW" altLang="en-US" sz="1200" u="none" strike="noStrike" dirty="0">
                          <a:effectLst/>
                        </a:rPr>
                        <a:t>常溫、速度</a:t>
                      </a:r>
                      <a:r>
                        <a:rPr lang="en-US" altLang="zh-TW" sz="1200" u="none" strike="noStrike" dirty="0">
                          <a:effectLst/>
                        </a:rPr>
                        <a:t>:0.9</a:t>
                      </a:r>
                      <a:r>
                        <a:rPr lang="en" sz="1200" u="none" strike="noStrike" dirty="0">
                          <a:effectLst/>
                        </a:rPr>
                        <a:t>M/MIN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121646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使用治具</a:t>
                      </a:r>
                      <a:r>
                        <a:rPr lang="en-US" altLang="zh-TW" sz="1200" u="none" strike="noStrike" dirty="0">
                          <a:effectLst/>
                        </a:rPr>
                        <a:t>:12</a:t>
                      </a:r>
                      <a:r>
                        <a:rPr lang="zh-TW" altLang="en-US" sz="1200" u="none" strike="noStrike" dirty="0">
                          <a:effectLst/>
                        </a:rPr>
                        <a:t>吋洗淨藍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904460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測試結果</a:t>
                      </a:r>
                      <a:r>
                        <a:rPr lang="en-US" altLang="zh-TW" sz="1200" u="none" strike="noStrike" dirty="0">
                          <a:effectLst/>
                        </a:rPr>
                        <a:t>: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828991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清洗後樣品外觀無腐蝕現象，目視檢驗無污染，但玻璃邊緣疑似遭超音波擊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783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傷。檢測厚度、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TTV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、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AOI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，以供廠商評估，待後續提供結果報告。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1428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750356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682098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271745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21025"/>
                  </a:ext>
                </a:extLst>
              </a:tr>
              <a:tr h="207272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518132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測試結果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合格 □                                     不合格   □               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93797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核准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審核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製作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621977"/>
                  </a:ext>
                </a:extLst>
              </a:tr>
              <a:tr h="20727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　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11671"/>
                  </a:ext>
                </a:extLst>
              </a:tr>
              <a:tr h="414545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編號：</a:t>
                      </a:r>
                      <a:r>
                        <a:rPr lang="en" sz="1200" u="none" strike="noStrike" dirty="0">
                          <a:effectLst/>
                        </a:rPr>
                        <a:t>MP09-02(00</a:t>
                      </a:r>
                      <a:r>
                        <a:rPr lang="en-US" altLang="zh-TW" sz="1200" u="none" strike="noStrike" dirty="0">
                          <a:effectLst/>
                        </a:rPr>
                        <a:t>9</a:t>
                      </a:r>
                      <a:r>
                        <a:rPr lang="en" sz="1200" u="none" strike="noStrike" dirty="0">
                          <a:effectLst/>
                        </a:rPr>
                        <a:t>)A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3263544"/>
                  </a:ext>
                </a:extLst>
              </a:tr>
            </a:tbl>
          </a:graphicData>
        </a:graphic>
      </p:graphicFrame>
      <p:pic>
        <p:nvPicPr>
          <p:cNvPr id="16" name="Check Box 1">
            <a:extLst>
              <a:ext uri="{63B3BB69-23CF-44E3-9099-C40C66FF867C}">
                <a14:compatExt xmlns:a14="http://schemas.microsoft.com/office/drawing/2010/main" spid="_x0000_s1025"/>
              </a:ext>
              <a:ext uri="{FF2B5EF4-FFF2-40B4-BE49-F238E27FC236}">
                <a16:creationId xmlns:a16="http://schemas.microsoft.com/office/drawing/2014/main" id="{C6CA9C13-789E-92E9-E3BC-AECFEEFCF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567" y="7480555"/>
            <a:ext cx="225033" cy="127310"/>
          </a:xfrm>
          <a:prstGeom prst="rect">
            <a:avLst/>
          </a:prstGeom>
        </p:spPr>
      </p:pic>
      <p:pic>
        <p:nvPicPr>
          <p:cNvPr id="17" name="Check Box 2">
            <a:extLst>
              <a:ext uri="{63B3BB69-23CF-44E3-9099-C40C66FF867C}">
                <a14:compatExt xmlns:a14="http://schemas.microsoft.com/office/drawing/2010/main" spid="_x0000_s1026"/>
              </a:ext>
              <a:ext uri="{FF2B5EF4-FFF2-40B4-BE49-F238E27FC236}">
                <a16:creationId xmlns:a16="http://schemas.microsoft.com/office/drawing/2014/main" id="{CCB6B87F-52B4-F6BA-9286-6EB5F6DB1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6967" y="7467855"/>
            <a:ext cx="225033" cy="127310"/>
          </a:xfrm>
          <a:prstGeom prst="rect">
            <a:avLst/>
          </a:prstGeom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2B63C356-4025-F324-14F8-487ACD4671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7467" y="2311731"/>
            <a:ext cx="225033" cy="13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DA9CAC8A-D187-CF97-31D6-17F235C4CB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6293" y="2311655"/>
            <a:ext cx="238270" cy="12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1220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A4E6-E689-2B1E-F06B-8A3B9900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F6DAC97-2FFA-7FF8-6942-B3F73B952851}"/>
              </a:ext>
            </a:extLst>
          </p:cNvPr>
          <p:cNvGraphicFramePr>
            <a:graphicFrameLocks noGrp="1"/>
          </p:cNvGraphicFramePr>
          <p:nvPr/>
        </p:nvGraphicFramePr>
        <p:xfrm>
          <a:off x="103516" y="820113"/>
          <a:ext cx="11982090" cy="596887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Slot.21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Slot.20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NG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暗裂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PT2509-0157(NG)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PT2509-0172(NG)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PT2509-0156(NG)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PT2509-0154(NG)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PT2509-0164(NG)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:334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:788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:1328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:292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:796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PT2509-0173(NG)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PT2515-0004(NG)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PT2516-0053(NG)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PT2515-0126(NG)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PT2515-0005(NG)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PT2515-0037(NG)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:833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:413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:136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:341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:178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:192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AF32C6A6-EFB1-2283-2FCB-B82AF7F4E414}"/>
              </a:ext>
            </a:extLst>
          </p:cNvPr>
          <p:cNvSpPr txBox="1"/>
          <p:nvPr/>
        </p:nvSpPr>
        <p:spPr>
          <a:xfrm>
            <a:off x="253496" y="233881"/>
            <a:ext cx="10356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2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</a:t>
            </a:r>
            <a:r>
              <a:rPr lang="zh-TW" altLang="en-US" sz="3200" dirty="0"/>
              <a:t>檢驗數據圖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01FFAD3-4BEB-631C-3E19-E761F96E3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421" y="1478279"/>
            <a:ext cx="1971041" cy="197104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8DC63A7-001F-4BB3-A4C7-C7F65A14A8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922" y="1478278"/>
            <a:ext cx="1950721" cy="195072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7CC0924-7036-413A-FEFA-6946663D8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224" y="1468119"/>
            <a:ext cx="1950721" cy="1950721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C3F3AB25-B574-E372-AF46-2D78AF0FCD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128" y="1478279"/>
            <a:ext cx="1950720" cy="1950720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CE158AE4-F216-BDAA-CA6B-9C487542C1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4466536"/>
            <a:ext cx="1950720" cy="1950720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524624F0-1709-4FA7-8999-49306336FD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061" y="1478279"/>
            <a:ext cx="1950720" cy="195072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530F53F-4F6D-B810-9459-3C00EBA196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682" y="4475477"/>
            <a:ext cx="1962099" cy="196209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23343159-0A79-363F-D475-9A57CF08E1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626" y="4471006"/>
            <a:ext cx="1962099" cy="196209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7238D8C-9FE2-093B-E720-C34120200D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002" y="4466535"/>
            <a:ext cx="1945641" cy="194564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521E14B-D9D4-7ED2-2784-4EA0446402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008" y="4475477"/>
            <a:ext cx="1961151" cy="196115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AF2E594-AC7C-B823-9D45-E1017CFFEE7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087" y="4475477"/>
            <a:ext cx="1979541" cy="197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6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99ED-5DB0-AD5F-EA2D-778F68E7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B998C52-8DCB-0CDD-11F1-20D6AD10FB38}"/>
              </a:ext>
            </a:extLst>
          </p:cNvPr>
          <p:cNvGraphicFramePr>
            <a:graphicFrameLocks noGrp="1"/>
          </p:cNvGraphicFramePr>
          <p:nvPr/>
        </p:nvGraphicFramePr>
        <p:xfrm>
          <a:off x="103516" y="820113"/>
          <a:ext cx="11982090" cy="596634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2374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Slot.12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PT2509-0174(NG)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PT2509-0175(NG)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:220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:133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:130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:242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PT2509-0026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PT2515-0006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PT2516-0057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PT2452-0096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PT2516-0067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515627EB-7B8A-05C7-FE9A-F935E3B9310D}"/>
              </a:ext>
            </a:extLst>
          </p:cNvPr>
          <p:cNvSpPr txBox="1"/>
          <p:nvPr/>
        </p:nvSpPr>
        <p:spPr>
          <a:xfrm>
            <a:off x="253496" y="233881"/>
            <a:ext cx="10625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2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</a:t>
            </a:r>
            <a:r>
              <a:rPr lang="zh-TW" altLang="en-US" sz="3200" dirty="0"/>
              <a:t>檢驗數據圖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8A54F422-39F4-1B01-2277-703FC27B5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961" y="1475604"/>
            <a:ext cx="1962099" cy="196209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ACA3339B-D418-EEEC-D208-ACD810781B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328" y="1466900"/>
            <a:ext cx="1962099" cy="1962099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2841DB00-8306-455F-34BA-5531DECC31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541" y="1465444"/>
            <a:ext cx="1962099" cy="1962099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6A491AD7-32FC-8229-0F82-34DF2E6777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254" y="4457089"/>
            <a:ext cx="1982419" cy="1982419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08403D69-DC67-B9CD-0CBA-FFCAD8D14B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512" y="4467248"/>
            <a:ext cx="1962099" cy="196209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ED6CE65-B4BC-E704-1A0C-4C1CF2E92E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443" y="4468467"/>
            <a:ext cx="1971041" cy="197104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C834B92-2E53-16A1-3348-9010360B4E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040" y="1460972"/>
            <a:ext cx="1971041" cy="197104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4234B1D-BC55-C03E-86E1-712F06DF4F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9" y="4456617"/>
            <a:ext cx="1971041" cy="197104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82AFAD7-54B2-EA67-8674-3F525D632A0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391" y="4466778"/>
            <a:ext cx="1950720" cy="195072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2B4CE57-730D-DE6C-B774-A68646E59F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545" y="4468467"/>
            <a:ext cx="1971041" cy="197104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3EFBEE2-C213-6510-05D5-4C5BD2BA42E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0" y="1472100"/>
            <a:ext cx="1982419" cy="198241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24C5B1B-1893-3C76-5297-03924F5F4D4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573" y="1482260"/>
            <a:ext cx="1955443" cy="195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06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FE8A-5A19-34CD-1F11-FAAAE4CDC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A7D970C-78CC-29A0-817A-D009A916BBB0}"/>
              </a:ext>
            </a:extLst>
          </p:cNvPr>
          <p:cNvGraphicFramePr>
            <a:graphicFrameLocks noGrp="1"/>
          </p:cNvGraphicFramePr>
          <p:nvPr/>
        </p:nvGraphicFramePr>
        <p:xfrm>
          <a:off x="104955" y="738833"/>
          <a:ext cx="11982090" cy="603795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141555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:120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D883617B-D3E9-8AC0-DC8C-F95BA73D71C9}"/>
              </a:ext>
            </a:extLst>
          </p:cNvPr>
          <p:cNvSpPr txBox="1"/>
          <p:nvPr/>
        </p:nvSpPr>
        <p:spPr>
          <a:xfrm>
            <a:off x="253496" y="204642"/>
            <a:ext cx="1003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2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</a:t>
            </a:r>
            <a:r>
              <a:rPr lang="zh-TW" altLang="en-US" sz="3200" dirty="0"/>
              <a:t>檢驗數據圖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8F2A284-1821-865D-FBC1-C38C3C578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5" y="1405941"/>
            <a:ext cx="1982419" cy="198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8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1A03B-2EAE-D6DA-DB3E-9C77ED956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BA32F24-D71B-5C82-F323-EF84D2AE4BA6}"/>
              </a:ext>
            </a:extLst>
          </p:cNvPr>
          <p:cNvGraphicFramePr>
            <a:graphicFrameLocks noGrp="1"/>
          </p:cNvGraphicFramePr>
          <p:nvPr/>
        </p:nvGraphicFramePr>
        <p:xfrm>
          <a:off x="103516" y="820113"/>
          <a:ext cx="12027524" cy="596887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2042449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Slot.21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Slot.20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NG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暗裂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PT2509-0157(NG)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PT2509-0172(NG)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PT2509-0156(NG)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PT2509-0154(NG)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PT2509-0164(NG)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:334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:788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:1328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:292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:796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PT2509-0173(NG)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PT2515-0004(NG)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PT2516-0053(NG)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PT2515-0126(NG)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PT2515-0005(NG)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PT2515-0037(NG)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:833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:413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:136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:341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:178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數量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:192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D0CCC11C-0920-281E-BB29-5D2693FEB62E}"/>
              </a:ext>
            </a:extLst>
          </p:cNvPr>
          <p:cNvSpPr txBox="1"/>
          <p:nvPr/>
        </p:nvSpPr>
        <p:spPr>
          <a:xfrm>
            <a:off x="253496" y="233881"/>
            <a:ext cx="10208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2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</a:t>
            </a:r>
            <a:r>
              <a:rPr lang="zh-TW" altLang="en-US" sz="3200" dirty="0"/>
              <a:t>檢驗數據圖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9697731-957B-9E8F-AC7C-A41ED6575A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230" y="1690176"/>
            <a:ext cx="1920276" cy="1357823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5AA0AE98-023B-99E3-2374-640613E77D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306" y="1690177"/>
            <a:ext cx="1920275" cy="1357822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22DA20AB-FE81-8689-152E-9F149ADF66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381" y="1690176"/>
            <a:ext cx="1975211" cy="1357823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F5E55614-1415-E452-44F2-A1EB4363CD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392" y="1690176"/>
            <a:ext cx="1880597" cy="1357823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2574D786-227C-DC83-940E-6085783B90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749" y="1690176"/>
            <a:ext cx="1894073" cy="1357823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07DBBD46-2DF3-14DC-3910-D7B2AEF836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" y="4840255"/>
            <a:ext cx="1983116" cy="1357820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D6EB8103-F9F1-5361-E8D1-781FF50B80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053" y="4840254"/>
            <a:ext cx="1920275" cy="1357823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DF6D5868-C6A6-A7BE-63EC-B226E725E5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911" y="4840254"/>
            <a:ext cx="1941830" cy="1357822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9F02C4FD-B2FD-A770-C95D-48D6928FB8E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788" y="4840253"/>
            <a:ext cx="1941830" cy="1357823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8BEC0E8C-36E3-9FBA-A4B3-6E58A1857F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040" y="4840252"/>
            <a:ext cx="1925589" cy="1357823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333F3FFA-7160-D933-9EA2-A6C48DC38A9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651" y="4840251"/>
            <a:ext cx="1925589" cy="135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704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E2D5B-668B-E482-BB72-414ACC29D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640B9C4-A128-5F6E-FB2B-35AAA25342E4}"/>
              </a:ext>
            </a:extLst>
          </p:cNvPr>
          <p:cNvGraphicFramePr>
            <a:graphicFrameLocks noGrp="1"/>
          </p:cNvGraphicFramePr>
          <p:nvPr/>
        </p:nvGraphicFramePr>
        <p:xfrm>
          <a:off x="103516" y="820113"/>
          <a:ext cx="11982090" cy="596634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  <a:gridCol w="1997015">
                  <a:extLst>
                    <a:ext uri="{9D8B030D-6E8A-4147-A177-3AD203B41FA5}">
                      <a16:colId xmlns:a16="http://schemas.microsoft.com/office/drawing/2014/main" val="1334681455"/>
                    </a:ext>
                  </a:extLst>
                </a:gridCol>
              </a:tblGrid>
              <a:tr h="2374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Slot.12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PT2509-0174(NG)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PT2509-0175(NG)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07247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:220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:133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:130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:242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Slot.5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PT2509-0026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PT2515-0006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PT2516-0057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PT2452-0096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PT2516-0067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52441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9D508EDA-AFBC-0DD2-3DEB-35C1D322FB98}"/>
              </a:ext>
            </a:extLst>
          </p:cNvPr>
          <p:cNvSpPr txBox="1"/>
          <p:nvPr/>
        </p:nvSpPr>
        <p:spPr>
          <a:xfrm>
            <a:off x="253496" y="233881"/>
            <a:ext cx="10208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2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</a:t>
            </a:r>
            <a:r>
              <a:rPr lang="zh-TW" altLang="en-US" sz="3200" dirty="0"/>
              <a:t>檢驗數據圖</a:t>
            </a: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83ADF59B-48D3-AD84-4DED-C470E5A27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410" y="1782094"/>
            <a:ext cx="1908443" cy="133258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059372C-A08C-905C-3501-1252AF6DA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7" y="1771934"/>
            <a:ext cx="1908443" cy="128178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2F6CC6B-8060-42F7-D03B-6B28AC3F40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861" y="1771934"/>
            <a:ext cx="1921119" cy="1281781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CCEC38F5-0A7A-0B1E-E9FA-5E8A9CEE9B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931" y="1761774"/>
            <a:ext cx="1948166" cy="1332581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42DAF270-9092-CED8-FB4E-149193D74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208" y="1761774"/>
            <a:ext cx="1908443" cy="1342741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83E097E4-16AA-2E9D-276B-4F3014B82C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536" y="1771934"/>
            <a:ext cx="1898283" cy="1342741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18F9EE9-236F-D8C7-95F4-B9C0699F4E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7" y="4840922"/>
            <a:ext cx="1908443" cy="1281781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D28E73A5-9530-7130-3F73-A776D6AF9C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381" y="4830762"/>
            <a:ext cx="1961759" cy="1356678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55393947-F501-6C32-9A43-A3A479CB33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850" y="4830763"/>
            <a:ext cx="1933247" cy="1356678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30600242-C538-BD06-0716-171B2128E8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641" y="4830762"/>
            <a:ext cx="1902010" cy="1387158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7C7716D7-543E-8301-D5E8-E24FB447C09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598" y="4840922"/>
            <a:ext cx="1890221" cy="1387158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D7E4DFA7-17F9-F938-7478-FEF40655F2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0597" y="4840922"/>
            <a:ext cx="1890220" cy="139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22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5230-ACDA-F129-77CB-130ED425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AEAAF89-D0E3-0E40-BF2B-9EDFDB68E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741365"/>
              </p:ext>
            </p:extLst>
          </p:nvPr>
        </p:nvGraphicFramePr>
        <p:xfrm>
          <a:off x="104955" y="818655"/>
          <a:ext cx="1997015" cy="596735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7015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</a:tblGrid>
              <a:tr h="3032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Slot.1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032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PT2516-0055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113244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032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:120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032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03263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025308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032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283A5B79-B1B5-B196-CD55-31AF78B17AE6}"/>
              </a:ext>
            </a:extLst>
          </p:cNvPr>
          <p:cNvSpPr txBox="1"/>
          <p:nvPr/>
        </p:nvSpPr>
        <p:spPr>
          <a:xfrm>
            <a:off x="253496" y="233881"/>
            <a:ext cx="10988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3200" dirty="0">
                <a:latin typeface="Calibri" panose="020F0502020204030204" pitchFamily="34" charset="0"/>
              </a:rPr>
              <a:t>Chemical Qual  </a:t>
            </a:r>
            <a:r>
              <a:rPr lang="en-US" altLang="zh-TW" sz="3200" dirty="0">
                <a:latin typeface="Calibri" panose="020F0502020204030204" pitchFamily="34" charset="0"/>
              </a:rPr>
              <a:t>2</a:t>
            </a:r>
            <a:r>
              <a:rPr lang="zh-TW" altLang="en-US" sz="3200" dirty="0">
                <a:latin typeface="Calibri" panose="020F0502020204030204" pitchFamily="34" charset="0"/>
              </a:rPr>
              <a:t> 測試結果</a:t>
            </a:r>
            <a:r>
              <a:rPr lang="en-US" altLang="zh-TW" sz="3200" dirty="0">
                <a:latin typeface="Calibri" panose="020F0502020204030204" pitchFamily="34" charset="0"/>
              </a:rPr>
              <a:t> </a:t>
            </a:r>
            <a:r>
              <a:rPr lang="en-US" altLang="zh-TW" sz="3200" dirty="0"/>
              <a:t>_C002_25Pcs_AOI&amp;TTV</a:t>
            </a:r>
            <a:r>
              <a:rPr lang="zh-TW" altLang="en-US" sz="3200" dirty="0"/>
              <a:t>檢驗數據圖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C6EC5EE-9373-A961-0EDC-44B99CE52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5" y="1747520"/>
            <a:ext cx="1968450" cy="1229360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16BF878-5DD0-2838-6C14-CA48BA4B1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828490"/>
              </p:ext>
            </p:extLst>
          </p:nvPr>
        </p:nvGraphicFramePr>
        <p:xfrm>
          <a:off x="2956766" y="836032"/>
          <a:ext cx="338476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384">
                  <a:extLst>
                    <a:ext uri="{9D8B030D-6E8A-4147-A177-3AD203B41FA5}">
                      <a16:colId xmlns:a16="http://schemas.microsoft.com/office/drawing/2014/main" val="4157463473"/>
                    </a:ext>
                  </a:extLst>
                </a:gridCol>
                <a:gridCol w="1692384">
                  <a:extLst>
                    <a:ext uri="{9D8B030D-6E8A-4147-A177-3AD203B41FA5}">
                      <a16:colId xmlns:a16="http://schemas.microsoft.com/office/drawing/2014/main" val="15433847"/>
                    </a:ext>
                  </a:extLst>
                </a:gridCol>
              </a:tblGrid>
              <a:tr h="361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SS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&lt;20umm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043399"/>
                  </a:ext>
                </a:extLst>
              </a:tr>
              <a:tr h="361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20~30um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588332"/>
                  </a:ext>
                </a:extLst>
              </a:tr>
              <a:tr h="361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30~50um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161432"/>
                  </a:ext>
                </a:extLst>
              </a:tr>
              <a:tr h="361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50~100um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572182"/>
                  </a:ext>
                </a:extLst>
              </a:tr>
              <a:tr h="361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&gt;100um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98230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249781B-947A-79EE-600C-D78EEF81B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251689"/>
              </p:ext>
            </p:extLst>
          </p:nvPr>
        </p:nvGraphicFramePr>
        <p:xfrm>
          <a:off x="6815138" y="836032"/>
          <a:ext cx="3598863" cy="5805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3444">
                  <a:extLst>
                    <a:ext uri="{9D8B030D-6E8A-4147-A177-3AD203B41FA5}">
                      <a16:colId xmlns:a16="http://schemas.microsoft.com/office/drawing/2014/main" val="1586034888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1420948340"/>
                    </a:ext>
                  </a:extLst>
                </a:gridCol>
                <a:gridCol w="885874">
                  <a:extLst>
                    <a:ext uri="{9D8B030D-6E8A-4147-A177-3AD203B41FA5}">
                      <a16:colId xmlns:a16="http://schemas.microsoft.com/office/drawing/2014/main" val="467583763"/>
                    </a:ext>
                  </a:extLst>
                </a:gridCol>
              </a:tblGrid>
              <a:tr h="2418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Wafer ID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Thickness (um)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TTV(um)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5776691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PT2516-0055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689.617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0.322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607193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PT2516-0067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690.204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0.297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5243524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PT2452-0096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689.393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0.108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9130354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PT2516-0057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689.803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0.205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7009770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PT2515-0006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690.976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0.343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1473357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PT2515-0125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690.063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0.078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456861"/>
                  </a:ext>
                </a:extLst>
              </a:tr>
              <a:tr h="2418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PT2509-0026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689.09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0.153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4281683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PT2516-0004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690.115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0.099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3092429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PT2515-0002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691.373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0.182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3451056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PT2516-0032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690.252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0.264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0543332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PT2516-0058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689.773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0.301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2796741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PT2509-0175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688.411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0.255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3812357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PT2509-0174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689.86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0.073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5478508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PT2515-0037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688.924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0.369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3364773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PT2515-0005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691.147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0.266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1642157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PT2515-0126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690.144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0.055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8595915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PT2516-0053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688.372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0.457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1470422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PT2515-0004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691.47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0.223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1632733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PT2509-0173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689.836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0.259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181735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PT2509-0164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690.518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0.238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814985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PT2509-0154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690.836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0.255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928550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PT2509-0156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690.461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0.362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2067551"/>
                  </a:ext>
                </a:extLst>
              </a:tr>
              <a:tr h="230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PT2509-0172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689.292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0.13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1028713"/>
                  </a:ext>
                </a:extLst>
              </a:tr>
              <a:tr h="2418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PT2509-0157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>
                          <a:effectLst/>
                        </a:rPr>
                        <a:t>690.338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u="none" strike="noStrike" dirty="0">
                          <a:effectLst/>
                        </a:rPr>
                        <a:t>0.258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241" marR="8241" marT="82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6039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099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1FCC99-D9D9-640E-3319-E9D1B60F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17" y="17593"/>
            <a:ext cx="10515600" cy="879213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清洗總結</a:t>
            </a:r>
            <a:r>
              <a:rPr lang="en-US" altLang="zh-TW" sz="2400" dirty="0"/>
              <a:t>:</a:t>
            </a:r>
            <a:endParaRPr lang="zh-TW" altLang="en-US" sz="24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058BD3-4476-F953-8449-199282856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17" y="1052627"/>
            <a:ext cx="6514707" cy="53481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TW" altLang="en-US" sz="1900" dirty="0"/>
              <a:t>在初期清洗階段使用兩片進行超音波清洗，完成後外觀均無異常、玻璃外觀透亮乾淨，並判斷清洗參數可行。</a:t>
            </a:r>
            <a:br>
              <a:rPr lang="en-US" altLang="zh-TW" sz="1900" dirty="0"/>
            </a:br>
            <a:r>
              <a:rPr lang="zh-TW" altLang="en-US" sz="1900" dirty="0"/>
              <a:t>第二次放量清洗後，玻璃外觀疑似遭超音波擊傷吃花現象</a:t>
            </a:r>
            <a:endParaRPr lang="en-US" altLang="zh-TW" sz="1900" dirty="0"/>
          </a:p>
          <a:p>
            <a:r>
              <a:rPr lang="zh-TW" altLang="en-US" sz="1900" dirty="0"/>
              <a:t>初步原因分析</a:t>
            </a:r>
            <a:r>
              <a:rPr lang="en-US" altLang="zh-TW" sz="1900" dirty="0"/>
              <a:t>(</a:t>
            </a:r>
            <a:r>
              <a:rPr lang="zh-TW" altLang="en-US" sz="1900" dirty="0"/>
              <a:t>可能原因</a:t>
            </a:r>
            <a:r>
              <a:rPr lang="en-US" altLang="zh-TW" sz="1900" dirty="0"/>
              <a:t>):</a:t>
            </a:r>
            <a:br>
              <a:rPr lang="en-US" altLang="zh-TW" sz="1900" dirty="0"/>
            </a:br>
            <a:r>
              <a:rPr lang="en-US" altLang="zh-TW" sz="1900" dirty="0"/>
              <a:t>1.</a:t>
            </a:r>
            <a:r>
              <a:rPr lang="zh-TW" altLang="en-US" sz="1900" dirty="0"/>
              <a:t>玻璃材質較脆弱</a:t>
            </a:r>
            <a:br>
              <a:rPr lang="en-US" altLang="zh-TW" sz="1900" dirty="0"/>
            </a:br>
            <a:r>
              <a:rPr lang="en-US" altLang="zh-TW" sz="1900" dirty="0"/>
              <a:t>2.</a:t>
            </a:r>
            <a:r>
              <a:rPr lang="zh-TW" altLang="en-US" sz="1900" dirty="0"/>
              <a:t>超音波功率或頻率設定過強</a:t>
            </a:r>
            <a:endParaRPr lang="en-US" altLang="zh-TW" sz="1900" dirty="0"/>
          </a:p>
          <a:p>
            <a:r>
              <a:rPr lang="zh-TW" altLang="en-US" sz="1900" dirty="0"/>
              <a:t>改善對策</a:t>
            </a:r>
            <a:r>
              <a:rPr lang="en-US" altLang="zh-TW" sz="1900" dirty="0"/>
              <a:t>:</a:t>
            </a:r>
            <a:br>
              <a:rPr lang="en-US" altLang="zh-TW" sz="1900" dirty="0"/>
            </a:br>
            <a:r>
              <a:rPr lang="zh-TW" altLang="en-US" sz="1900" dirty="0"/>
              <a:t>降低超音波功率及頻率達到具有清洗效果又不會對玻璃造成傷害</a:t>
            </a:r>
            <a:br>
              <a:rPr lang="en-US" altLang="zh-TW" sz="1900" dirty="0"/>
            </a:br>
            <a:r>
              <a:rPr lang="zh-TW" altLang="en-US" sz="1900" dirty="0"/>
              <a:t>請廠商提供樣品測試</a:t>
            </a:r>
            <a:endParaRPr lang="en-US" altLang="zh-TW" sz="1900" dirty="0"/>
          </a:p>
          <a:p>
            <a:r>
              <a:rPr lang="zh-TW" altLang="en-US" sz="1900" dirty="0"/>
              <a:t>不同的玻璃廠商在同樣清洗條件的比較：</a:t>
            </a:r>
            <a:endParaRPr lang="en-US" altLang="zh-TW" sz="1900" dirty="0"/>
          </a:p>
          <a:p>
            <a:r>
              <a:rPr lang="zh-TW" altLang="en-US" sz="2000" dirty="0"/>
              <a:t>超音波條件</a:t>
            </a:r>
            <a:r>
              <a:rPr lang="en-US" altLang="zh-TW" sz="2000" dirty="0"/>
              <a:t>-</a:t>
            </a:r>
            <a:r>
              <a:rPr lang="zh-TW" altLang="en-US" sz="2000" dirty="0"/>
              <a:t>使用</a:t>
            </a:r>
            <a:r>
              <a:rPr lang="en-US" altLang="zh-TW" sz="2000" dirty="0"/>
              <a:t>BL-3729</a:t>
            </a:r>
            <a:r>
              <a:rPr lang="zh-TW" altLang="en-US" sz="2000" dirty="0"/>
              <a:t>，溫度</a:t>
            </a:r>
            <a:r>
              <a:rPr lang="en-US" altLang="zh-TW" sz="2000" dirty="0"/>
              <a:t>:75°</a:t>
            </a:r>
            <a:r>
              <a:rPr lang="en" altLang="zh-TW" sz="2000" dirty="0"/>
              <a:t>C、</a:t>
            </a:r>
            <a:r>
              <a:rPr lang="zh-TW" altLang="en-US" sz="2000" dirty="0"/>
              <a:t>時間</a:t>
            </a:r>
            <a:r>
              <a:rPr lang="en-US" altLang="zh-TW" sz="2000" dirty="0"/>
              <a:t>:30</a:t>
            </a:r>
            <a:r>
              <a:rPr lang="en" altLang="zh-TW" sz="2000" dirty="0"/>
              <a:t>min</a:t>
            </a:r>
            <a:r>
              <a:rPr lang="zh-TW" altLang="en-US" sz="2000" dirty="0"/>
              <a:t> ， 純水清洗溫度</a:t>
            </a:r>
            <a:r>
              <a:rPr lang="en-US" altLang="zh-TW" sz="2000" dirty="0"/>
              <a:t>:</a:t>
            </a:r>
            <a:r>
              <a:rPr lang="zh-TW" altLang="en-US" sz="2000" dirty="0"/>
              <a:t>室溫、時間</a:t>
            </a:r>
            <a:r>
              <a:rPr lang="en-US" altLang="zh-TW" sz="2000" dirty="0"/>
              <a:t>10</a:t>
            </a:r>
            <a:r>
              <a:rPr lang="en" altLang="zh-TW" sz="2000" dirty="0"/>
              <a:t>min</a:t>
            </a:r>
            <a:r>
              <a:rPr lang="zh-TW" altLang="en-US" sz="2000" dirty="0"/>
              <a:t>。</a:t>
            </a:r>
            <a:br>
              <a:rPr lang="zh-TW" altLang="en-US" sz="2000" dirty="0"/>
            </a:br>
            <a:r>
              <a:rPr lang="zh-TW" altLang="en-US" sz="2000" dirty="0"/>
              <a:t>藥水濃度</a:t>
            </a:r>
            <a:r>
              <a:rPr lang="en-US" altLang="zh-TW" sz="2000" dirty="0"/>
              <a:t>:100%</a:t>
            </a:r>
          </a:p>
          <a:p>
            <a:r>
              <a:rPr lang="zh-TW" altLang="en-US" sz="1900" dirty="0"/>
              <a:t>康寧、</a:t>
            </a:r>
            <a:r>
              <a:rPr lang="en-US" altLang="zh-TW" sz="1900" dirty="0"/>
              <a:t>NEG</a:t>
            </a:r>
            <a:r>
              <a:rPr lang="zh-TW" altLang="en-US" sz="1900" dirty="0"/>
              <a:t>上述條件無超音波擊傷問題</a:t>
            </a:r>
            <a:r>
              <a:rPr lang="zh-TW" altLang="en-US" sz="1800" dirty="0"/>
              <a:t>，破壞實驗清洗時間為</a:t>
            </a:r>
            <a:r>
              <a:rPr lang="en-US" altLang="zh-TW" sz="1800" dirty="0"/>
              <a:t>60</a:t>
            </a:r>
            <a:r>
              <a:rPr lang="zh-TW" altLang="en-US" sz="1800" dirty="0"/>
              <a:t>分鐘也無此現象</a:t>
            </a:r>
            <a:endParaRPr lang="en-US" altLang="zh-TW" sz="1900" dirty="0"/>
          </a:p>
          <a:p>
            <a:r>
              <a:rPr lang="zh-TW" altLang="en-US" sz="1900" dirty="0"/>
              <a:t>肖特上述清洗條件即發生擊傷現象</a:t>
            </a:r>
            <a:endParaRPr lang="en-US" altLang="zh-TW" sz="1900" dirty="0"/>
          </a:p>
          <a:p>
            <a:pPr marL="0" indent="0">
              <a:buNone/>
            </a:pPr>
            <a:r>
              <a:rPr lang="en-US" altLang="zh-TW" sz="1900" dirty="0"/>
              <a:t>Slot1~11 particle</a:t>
            </a:r>
            <a:r>
              <a:rPr lang="zh-TW" altLang="en-US" sz="1900" dirty="0"/>
              <a:t>均於</a:t>
            </a:r>
            <a:r>
              <a:rPr lang="en-US" altLang="zh-TW" sz="1900" dirty="0"/>
              <a:t>100</a:t>
            </a:r>
            <a:r>
              <a:rPr lang="zh-TW" altLang="en-US" sz="1900" dirty="0"/>
              <a:t>顆左右，柱狀圖顯示</a:t>
            </a:r>
            <a:r>
              <a:rPr lang="en-US" altLang="zh-TW" sz="1900" dirty="0"/>
              <a:t>particle</a:t>
            </a:r>
            <a:r>
              <a:rPr lang="zh-TW" altLang="en-US" sz="1900" dirty="0"/>
              <a:t>大於</a:t>
            </a:r>
            <a:r>
              <a:rPr lang="en-US" altLang="zh-TW" sz="1900" dirty="0"/>
              <a:t>100um</a:t>
            </a:r>
            <a:r>
              <a:rPr lang="zh-TW" altLang="en-US" sz="1900" dirty="0"/>
              <a:t>均為</a:t>
            </a:r>
            <a:r>
              <a:rPr lang="en-US" altLang="zh-TW" sz="1900" dirty="0"/>
              <a:t>0</a:t>
            </a:r>
            <a:br>
              <a:rPr lang="en-US" altLang="zh-TW" sz="1900" dirty="0"/>
            </a:br>
            <a:r>
              <a:rPr lang="en-US" altLang="zh-TW" sz="1900" dirty="0"/>
              <a:t>Slot12~23</a:t>
            </a:r>
            <a:r>
              <a:rPr lang="zh-TW" altLang="en-US" sz="1900" dirty="0"/>
              <a:t>則因邊緣疑似超音波擊傷現象，造成</a:t>
            </a:r>
            <a:r>
              <a:rPr lang="en-US" altLang="zh-TW" sz="1900" dirty="0"/>
              <a:t>AOI</a:t>
            </a:r>
            <a:r>
              <a:rPr lang="zh-TW" altLang="en-US" sz="1900" dirty="0"/>
              <a:t>判定為瑕疵故</a:t>
            </a:r>
            <a:r>
              <a:rPr lang="en-US" altLang="zh-TW" sz="1900" dirty="0"/>
              <a:t>particle</a:t>
            </a:r>
            <a:r>
              <a:rPr lang="zh-TW" altLang="en-US" sz="1900" dirty="0"/>
              <a:t>部分數量超標</a:t>
            </a:r>
            <a:br>
              <a:rPr lang="en-US" altLang="zh-TW" sz="1900" dirty="0"/>
            </a:br>
            <a:r>
              <a:rPr lang="en-US" altLang="zh-TW" sz="1900" dirty="0"/>
              <a:t>Slot24</a:t>
            </a:r>
            <a:r>
              <a:rPr lang="zh-TW" altLang="en-US" sz="1900" dirty="0"/>
              <a:t>則在</a:t>
            </a:r>
            <a:r>
              <a:rPr lang="en-US" altLang="zh-TW" sz="1900" dirty="0"/>
              <a:t>AOI</a:t>
            </a:r>
            <a:r>
              <a:rPr lang="zh-TW" altLang="en-US" sz="1900" dirty="0"/>
              <a:t>檢測出暗裂</a:t>
            </a:r>
            <a:r>
              <a:rPr lang="en-US" altLang="zh-TW" sz="1900" dirty="0"/>
              <a:t>NG</a:t>
            </a:r>
            <a:br>
              <a:rPr lang="en-US" altLang="zh-TW" sz="1900" dirty="0"/>
            </a:br>
            <a:r>
              <a:rPr lang="en-US" altLang="zh-TW" sz="1900" dirty="0"/>
              <a:t>Slot25</a:t>
            </a:r>
            <a:r>
              <a:rPr lang="zh-TW" altLang="en-US" sz="1900" dirty="0"/>
              <a:t>因在人工目檢站判定為暗裂</a:t>
            </a:r>
            <a:r>
              <a:rPr lang="en-US" altLang="zh-TW" sz="1900" dirty="0"/>
              <a:t>NG</a:t>
            </a:r>
            <a:r>
              <a:rPr lang="zh-TW" altLang="en-US" sz="1900" dirty="0"/>
              <a:t>，故無經</a:t>
            </a:r>
            <a:r>
              <a:rPr lang="en-US" altLang="zh-TW" sz="1900" dirty="0"/>
              <a:t>AOI</a:t>
            </a:r>
            <a:r>
              <a:rPr lang="zh-TW" altLang="en-US" sz="1900" dirty="0"/>
              <a:t>檢測</a:t>
            </a:r>
            <a:br>
              <a:rPr lang="en-US" altLang="zh-TW" sz="1900" dirty="0"/>
            </a:br>
            <a:br>
              <a:rPr lang="en-US" altLang="zh-TW" sz="1900" dirty="0"/>
            </a:br>
            <a:r>
              <a:rPr lang="zh-TW" altLang="en-US" sz="1900" dirty="0"/>
              <a:t>厚度及</a:t>
            </a:r>
            <a:r>
              <a:rPr lang="en-US" altLang="zh-TW" sz="1900" dirty="0"/>
              <a:t>TTV</a:t>
            </a:r>
            <a:r>
              <a:rPr lang="zh-TW" altLang="en-US" sz="1900" dirty="0"/>
              <a:t>均於標準值範圍內</a:t>
            </a:r>
            <a:endParaRPr lang="en-US" altLang="zh-TW" sz="1900" dirty="0"/>
          </a:p>
          <a:p>
            <a:pPr marL="0" indent="0">
              <a:buNone/>
            </a:pPr>
            <a:endParaRPr lang="zh-TW" altLang="en-US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B857587-BFD5-58A2-C08A-54B001F9D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224" y="896806"/>
            <a:ext cx="2814440" cy="211130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66B20B1-EF65-BCE3-B743-879D158C7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224" y="4105671"/>
            <a:ext cx="2814440" cy="211130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49159A1-6178-A111-8776-B513F38C1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724" y="3588485"/>
            <a:ext cx="1991012" cy="2654084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1D95D858-4EE0-A4D3-714B-D3AFB3167891}"/>
              </a:ext>
            </a:extLst>
          </p:cNvPr>
          <p:cNvSpPr txBox="1"/>
          <p:nvPr/>
        </p:nvSpPr>
        <p:spPr>
          <a:xfrm>
            <a:off x="7183224" y="49947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疑似超音波擊傷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C49371C-5176-4B1B-ADF4-07A0EA116A77}"/>
              </a:ext>
            </a:extLst>
          </p:cNvPr>
          <p:cNvSpPr txBox="1"/>
          <p:nvPr/>
        </p:nvSpPr>
        <p:spPr>
          <a:xfrm>
            <a:off x="7175081" y="3737182"/>
            <a:ext cx="2917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Slot25</a:t>
            </a:r>
            <a:r>
              <a:rPr lang="zh-TW" altLang="en-US" dirty="0">
                <a:solidFill>
                  <a:srgbClr val="FF0000"/>
                </a:solidFill>
              </a:rPr>
              <a:t>人工目檢判定暗裂</a:t>
            </a:r>
            <a:r>
              <a:rPr lang="en-US" altLang="zh-TW" dirty="0">
                <a:solidFill>
                  <a:srgbClr val="FF0000"/>
                </a:solidFill>
              </a:rPr>
              <a:t>NG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060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1961</Words>
  <Application>Microsoft Macintosh PowerPoint</Application>
  <PresentationFormat>寬螢幕</PresentationFormat>
  <Paragraphs>493</Paragraphs>
  <Slides>11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新細明體</vt:lpstr>
      <vt:lpstr>Arial</vt:lpstr>
      <vt:lpstr>Calibri</vt:lpstr>
      <vt:lpstr>Calibri Light</vt:lpstr>
      <vt:lpstr>Office 佈景主題</vt:lpstr>
      <vt:lpstr>力成測試過程與清洗參數確認</vt:lpstr>
      <vt:lpstr>目的與品質標準</vt:lpstr>
      <vt:lpstr>Chemical Qual  1  測試紀錄 </vt:lpstr>
      <vt:lpstr>Chemical Qual  2  測試紀錄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清洗總結: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哲驊 劉</dc:creator>
  <cp:lastModifiedBy>哲驊 劉</cp:lastModifiedBy>
  <cp:revision>15</cp:revision>
  <dcterms:created xsi:type="dcterms:W3CDTF">2025-11-17T04:25:26Z</dcterms:created>
  <dcterms:modified xsi:type="dcterms:W3CDTF">2025-12-05T09:57:27Z</dcterms:modified>
</cp:coreProperties>
</file>